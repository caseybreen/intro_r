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www.github.com/caseybreen/intro_r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cloud.r-project.org/" TargetMode="External" /><Relationship Id="rId3" Type="http://schemas.openxmlformats.org/officeDocument/2006/relationships/hyperlink" Target="http://www.rstudio.com/download" TargetMode="External" /><Relationship Id="rId4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casey.breen@sociology.ox.ac.uk" TargetMode="Externa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caseybreen/intro_r/" TargetMode="External" /><Relationship Id="rId3" Type="http://schemas.openxmlformats.org/officeDocument/2006/relationships/hyperlink" Target="https://tinyurl.com/intro-r-data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r4ds.hadley.nz/" TargetMode="External" /><Relationship Id="rId3" Type="http://schemas.openxmlformats.org/officeDocument/2006/relationships/hyperlink" Target="https://socviz.co/" TargetMode="External" /><Relationship Id="rId4" Type="http://schemas.openxmlformats.org/officeDocument/2006/relationships/image" Target="../media/image15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www.github.com/caseybreen/intro_r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Department of Sociology | University of Texas at Austin</a:t>
            </a:r>
            <a:br/>
            <a:br/>
            <a:r>
              <a:rPr/>
              <a:t>Casey Breen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2026-01-16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Welcome to “Intro to </a:t>
            </a:r>
            <a:r>
              <a:rPr b="1">
                <a:latin typeface="Courier"/>
              </a:rPr>
              <a:t>R</a:t>
            </a:r>
            <a:r>
              <a:rPr b="1"/>
              <a:t>”</a:t>
            </a:r>
          </a:p>
          <a:p>
            <a:pPr lvl="0"/>
            <a:r>
              <a:rPr/>
              <a:t>Course website:</a:t>
            </a:r>
          </a:p>
          <a:p>
            <a:pPr lvl="1"/>
            <a:r>
              <a:rPr>
                <a:hlinkClick r:id="rId2"/>
              </a:rPr>
              <a:t>www.github.com/caseybreen/intro_r</a:t>
            </a:r>
          </a:p>
          <a:p>
            <a:pPr lvl="1"/>
            <a:r>
              <a:rPr/>
              <a:t>Slides, exercises, and solutions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Course goals</a:t>
            </a:r>
          </a:p>
          <a:p>
            <a:pPr lvl="0"/>
            <a:r>
              <a:rPr/>
              <a:t>Overview: why </a:t>
            </a:r>
            <a:r>
              <a:rPr>
                <a:latin typeface="Courier"/>
              </a:rPr>
              <a:t>R</a:t>
            </a:r>
            <a:r>
              <a:rPr/>
              <a:t> is a powerful tool for social science research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/>
            <a:r>
              <a:rPr/>
              <a:t>Install </a:t>
            </a:r>
            <a:r>
              <a:rPr>
                <a:latin typeface="Courier"/>
              </a:rPr>
              <a:t>R</a:t>
            </a:r>
            <a:r>
              <a:rPr/>
              <a:t> and </a:t>
            </a:r>
            <a:r>
              <a:rPr>
                <a:latin typeface="Courier"/>
              </a:rPr>
              <a:t>RStudio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/>
            <a:r>
              <a:rPr/>
              <a:t>Introduction to </a:t>
            </a:r>
            <a:r>
              <a:rPr>
                <a:latin typeface="Courier"/>
              </a:rPr>
              <a:t>R</a:t>
            </a:r>
            <a:r>
              <a:rPr/>
              <a:t> syntax, data types, and data structures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/>
            <a:r>
              <a:rPr/>
              <a:t>Basic understanding of data manipulation and visualization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Course agenda</a:t>
            </a:r>
          </a:p>
          <a:p>
            <a:pPr lvl="0"/>
            <a:r>
              <a:rPr b="1"/>
              <a:t>Session 1</a:t>
            </a:r>
          </a:p>
          <a:p>
            <a:pPr lvl="1"/>
            <a:r>
              <a:rPr/>
              <a:t>Module 1: Introduction to </a:t>
            </a:r>
            <a:r>
              <a:rPr>
                <a:latin typeface="Courier"/>
              </a:rPr>
              <a:t>R</a:t>
            </a:r>
            <a:r>
              <a:rPr/>
              <a:t>, </a:t>
            </a:r>
            <a:r>
              <a:rPr>
                <a:latin typeface="Courier"/>
              </a:rPr>
              <a:t>RStudio,</a:t>
            </a:r>
            <a:r>
              <a:rPr/>
              <a:t> and code formats</a:t>
            </a:r>
          </a:p>
          <a:p>
            <a:pPr lvl="1"/>
            <a:r>
              <a:rPr/>
              <a:t>Module 2: </a:t>
            </a:r>
            <a:r>
              <a:rPr>
                <a:latin typeface="Courier"/>
              </a:rPr>
              <a:t>R</a:t>
            </a:r>
            <a:r>
              <a:rPr/>
              <a:t> programming fundamentals (syntax, operators, data types, data structures, sequencing)</a:t>
            </a:r>
          </a:p>
          <a:p>
            <a:pPr lvl="1"/>
            <a:r>
              <a:rPr/>
              <a:t>Module 3: Working with data (indexing vectors / matrices, importing data)</a:t>
            </a:r>
          </a:p>
          <a:p>
            <a:pPr lvl="0"/>
            <a:r>
              <a:rPr b="1"/>
              <a:t>Session 2</a:t>
            </a:r>
          </a:p>
          <a:p>
            <a:pPr lvl="1"/>
            <a:r>
              <a:rPr/>
              <a:t>Module 4: Importing and exporting data</a:t>
            </a:r>
          </a:p>
          <a:p>
            <a:pPr lvl="1"/>
            <a:r>
              <a:rPr/>
              <a:t>Module 5: Data manipulation (</a:t>
            </a:r>
            <a:r>
              <a:rPr>
                <a:latin typeface="Courier"/>
              </a:rPr>
              <a:t>dplyr</a:t>
            </a:r>
            <a:r>
              <a:rPr/>
              <a:t>) and data visualization (</a:t>
            </a:r>
            <a:r>
              <a:rPr>
                <a:latin typeface="Courier"/>
              </a:rPr>
              <a:t>ggplot2</a:t>
            </a:r>
            <a:r>
              <a:rPr/>
              <a:t>)</a:t>
            </a:r>
          </a:p>
          <a:p>
            <a:pPr lvl="1"/>
            <a:r>
              <a:rPr/>
              <a:t>Module 6: Best practices and resources for self-study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to </a:t>
            </a:r>
            <a:r>
              <a:rPr b="1">
                <a:latin typeface="Courier"/>
              </a:rPr>
              <a:t>R</a:t>
            </a:r>
            <a:r>
              <a:rPr b="1"/>
              <a:t>, </a:t>
            </a:r>
            <a:r>
              <a:rPr b="1">
                <a:latin typeface="Courier"/>
              </a:rPr>
              <a:t>RStudio</a:t>
            </a:r>
            <a:r>
              <a:rPr b="1"/>
              <a:t>, and code formats</a:t>
            </a:r>
          </a:p>
          <a:p>
            <a:pPr lvl="0" indent="0" marL="0">
              <a:buNone/>
            </a:pPr>
            <a:r>
              <a:rPr b="1"/>
              <a:t>Learning objectives</a:t>
            </a:r>
            <a:r>
              <a:rPr/>
              <a:t>:</a:t>
            </a:r>
          </a:p>
          <a:p>
            <a:pPr lvl="0"/>
            <a:r>
              <a:rPr/>
              <a:t>Installing </a:t>
            </a:r>
            <a:r>
              <a:rPr>
                <a:latin typeface="Courier"/>
              </a:rPr>
              <a:t>R</a:t>
            </a:r>
            <a:r>
              <a:rPr/>
              <a:t> and </a:t>
            </a:r>
            <a:r>
              <a:rPr>
                <a:latin typeface="Courier"/>
              </a:rPr>
              <a:t>RStudio</a:t>
            </a:r>
          </a:p>
          <a:p>
            <a:pPr lvl="0"/>
            <a:r>
              <a:rPr/>
              <a:t>Why </a:t>
            </a:r>
            <a:r>
              <a:rPr>
                <a:latin typeface="Courier"/>
              </a:rPr>
              <a:t>R</a:t>
            </a:r>
            <a:r>
              <a:rPr/>
              <a:t>?</a:t>
            </a:r>
          </a:p>
          <a:p>
            <a:pPr lvl="0"/>
            <a:r>
              <a:rPr/>
              <a:t>Understanding </a:t>
            </a:r>
            <a:r>
              <a:rPr>
                <a:latin typeface="Courier"/>
              </a:rPr>
              <a:t>R</a:t>
            </a:r>
            <a:r>
              <a:rPr/>
              <a:t> Scripts, </a:t>
            </a:r>
            <a:r>
              <a:rPr>
                <a:latin typeface="Courier"/>
              </a:rPr>
              <a:t>R</a:t>
            </a:r>
            <a:r>
              <a:rPr/>
              <a:t> notebooks, Quarto documents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R</a:t>
            </a:r>
            <a:r>
              <a:rPr b="1"/>
              <a:t> and </a:t>
            </a:r>
            <a:r>
              <a:rPr b="1">
                <a:latin typeface="Courier"/>
              </a:rPr>
              <a:t>RStudio</a:t>
            </a:r>
          </a:p>
          <a:p>
            <a:pPr lvl="0"/>
            <a:r>
              <a:rPr>
                <a:latin typeface="Courier"/>
              </a:rPr>
              <a:t>R</a:t>
            </a:r>
            <a:r>
              <a:rPr/>
              <a:t> is a statistical programming language</a:t>
            </a:r>
          </a:p>
          <a:p>
            <a:pPr lvl="1"/>
            <a:r>
              <a:rPr/>
              <a:t>Download: </a:t>
            </a:r>
            <a:r>
              <a:rPr>
                <a:hlinkClick r:id="rId2"/>
              </a:rPr>
              <a:t>https://cloud.r-project.org</a:t>
            </a:r>
          </a:p>
          <a:p>
            <a:pPr lvl="0"/>
            <a:r>
              <a:rPr>
                <a:latin typeface="Courier"/>
              </a:rPr>
              <a:t>RStudio</a:t>
            </a:r>
            <a:r>
              <a:rPr/>
              <a:t> is an integrated development environment (IDE) for </a:t>
            </a:r>
            <a:r>
              <a:rPr>
                <a:latin typeface="Courier"/>
              </a:rPr>
              <a:t>R</a:t>
            </a:r>
            <a:r>
              <a:rPr/>
              <a:t> programming</a:t>
            </a:r>
          </a:p>
          <a:p>
            <a:pPr lvl="1"/>
            <a:r>
              <a:rPr/>
              <a:t>Download: </a:t>
            </a:r>
            <a:r>
              <a:rPr>
                <a:hlinkClick r:id="rId3"/>
              </a:rPr>
              <a:t>http://www.rstudio.com/download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</a:t>
            </a:r>
            <a:r>
              <a:rPr b="1">
                <a:latin typeface="Courier"/>
              </a:rPr>
              <a:t>R</a:t>
            </a:r>
            <a:r>
              <a:rPr b="1"/>
              <a:t>?</a:t>
            </a:r>
          </a:p>
          <a:p>
            <a:pPr lvl="0"/>
            <a:r>
              <a:rPr/>
              <a:t>Free, open source — great for reproducibility and open science</a:t>
            </a:r>
          </a:p>
          <a:p>
            <a:pPr lvl="0"/>
            <a:r>
              <a:rPr/>
              <a:t>Powerful language for data manipulation, statistical analysis, and publication-ready data visualizations</a:t>
            </a:r>
          </a:p>
          <a:p>
            <a:pPr lvl="0"/>
            <a:r>
              <a:rPr/>
              <a:t>Excellent community, lots of free resources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visualization</a:t>
            </a:r>
          </a:p>
        </p:txBody>
      </p:sp>
      <p:pic>
        <p:nvPicPr>
          <p:cNvPr descr="../slides/session1_slides_files/figs/mobile_usage_prediction_map_nigeria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Easy to simulate + plot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Generate random data for 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 &lt;-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data.frame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data_df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y)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Generate visualization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data_df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y))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theme_classic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full_session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RStudio</a:t>
            </a:r>
            <a:r>
              <a:rPr b="1"/>
              <a:t> panes</a:t>
            </a:r>
          </a:p>
        </p:txBody>
      </p:sp>
      <p:pic>
        <p:nvPicPr>
          <p:cNvPr descr="../slides/session1_slides_files/figs/rstudio_layou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62000"/>
            <a:ext cx="5105400" cy="325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</a:t>
            </a:r>
            <a:r>
              <a:rPr b="1">
                <a:latin typeface="Courier"/>
              </a:rPr>
              <a:t>RStudio</a:t>
            </a:r>
            <a:r>
              <a:rPr b="1"/>
              <a:t>?</a:t>
            </a:r>
          </a:p>
          <a:p>
            <a:pPr lvl="0"/>
            <a:r>
              <a:rPr b="1"/>
              <a:t>All-in-one development environment</a:t>
            </a:r>
            <a:r>
              <a:rPr/>
              <a:t>: streamlines coding, data visualization, and workflow</a:t>
            </a:r>
          </a:p>
          <a:p>
            <a:pPr lvl="0"/>
            <a:r>
              <a:rPr b="1"/>
              <a:t>Extensible</a:t>
            </a:r>
            <a:r>
              <a:rPr/>
              <a:t>: supports R — but also Python, SQL, and Git</a:t>
            </a:r>
          </a:p>
          <a:p>
            <a:pPr lvl="0"/>
            <a:r>
              <a:rPr b="1"/>
              <a:t>Rich community</a:t>
            </a:r>
            <a:r>
              <a:rPr/>
              <a:t>: eases learning and problem-solving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formats: </a:t>
            </a:r>
            <a:r>
              <a:rPr b="1">
                <a:latin typeface="Courier"/>
              </a:rPr>
              <a:t>R</a:t>
            </a:r>
            <a:r>
              <a:rPr b="1"/>
              <a:t> Scripts vs. </a:t>
            </a:r>
            <a:r>
              <a:rPr b="1">
                <a:latin typeface="Courier"/>
              </a:rPr>
              <a:t>R</a:t>
            </a:r>
            <a:r>
              <a:rPr b="1"/>
              <a:t> Notebooks</a:t>
            </a:r>
          </a:p>
          <a:p>
            <a:pPr lvl="0"/>
            <a:r>
              <a:rPr b="1">
                <a:latin typeface="Courier"/>
              </a:rPr>
              <a:t>R</a:t>
            </a:r>
            <a:r>
              <a:rPr b="1"/>
              <a:t> Scripts</a:t>
            </a:r>
          </a:p>
          <a:p>
            <a:pPr lvl="1"/>
            <a:r>
              <a:rPr/>
              <a:t>Simple: just code</a:t>
            </a:r>
          </a:p>
          <a:p>
            <a:pPr lvl="1"/>
            <a:r>
              <a:rPr/>
              <a:t>Best for simple tasks (and multi-script pipelines)</a:t>
            </a:r>
          </a:p>
          <a:p>
            <a:pPr lvl="0"/>
            <a:r>
              <a:rPr b="1">
                <a:latin typeface="Courier"/>
              </a:rPr>
              <a:t>R</a:t>
            </a:r>
            <a:r>
              <a:rPr b="1"/>
              <a:t> Notebooks (Quarto, </a:t>
            </a:r>
            <a:r>
              <a:rPr b="1">
                <a:latin typeface="Courier"/>
              </a:rPr>
              <a:t>R</a:t>
            </a:r>
            <a:r>
              <a:rPr b="1"/>
              <a:t> Notebook)</a:t>
            </a:r>
          </a:p>
          <a:p>
            <a:pPr lvl="1"/>
            <a:r>
              <a:rPr/>
              <a:t>Integrated: Mix of code, text, and outputs for easy documentation</a:t>
            </a:r>
          </a:p>
          <a:p>
            <a:pPr lvl="1"/>
            <a:r>
              <a:rPr/>
              <a:t>Interactive: real-time code execution and output display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Quarto documents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“Notebook” Style: supports interactive code and text</a:t>
            </a:r>
          </a:p>
          <a:p>
            <a:pPr lvl="1"/>
            <a:r>
              <a:rPr/>
              <a:t>Code cells: segments for code execution</a:t>
            </a:r>
          </a:p>
          <a:p>
            <a:pPr lvl="1"/>
            <a:r>
              <a:rPr/>
              <a:t>Text chunks: annotations or explanations in Markdown format.</a:t>
            </a:r>
          </a:p>
          <a:p>
            <a:pPr lvl="0"/>
            <a:r>
              <a:rPr/>
              <a:t>Inline output: figures and code output display directly below the corresponding code cell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Installing packages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Packages: pre-built code and functions.</a:t>
            </a:r>
          </a:p>
          <a:p>
            <a:pPr lvl="0"/>
            <a:r>
              <a:rPr/>
              <a:t>Packages are generally installed from the Comprehensive R Archive Network (CRAN)</a:t>
            </a:r>
          </a:p>
          <a:p>
            <a:pPr lvl="0" indent="0" marL="0">
              <a:buNone/>
            </a:pPr>
            <a:r>
              <a:rPr b="1"/>
              <a:t>Install:</a:t>
            </a:r>
            <a:r>
              <a:rPr/>
              <a:t> new packages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"tidyverse"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Library</a:t>
            </a:r>
            <a:r>
              <a:rPr/>
              <a:t>: load installed packages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</a:p>
        </p:txBody>
      </p:sp>
      <p:pic>
        <p:nvPicPr>
          <p:cNvPr descr="../slides/session1_slides_files/figs/lightbulb_analog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95900" y="1193800"/>
            <a:ext cx="2743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YaRrr! The Pirates Guide to R. Nathaniel D. Phillips, 2018.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Running code</a:t>
            </a:r>
          </a:p>
          <a:p>
            <a:pPr lvl="0"/>
            <a:r>
              <a:rPr/>
              <a:t>Run all code in a quarto document (or </a:t>
            </a:r>
            <a:r>
              <a:rPr>
                <a:latin typeface="Courier"/>
              </a:rPr>
              <a:t>R</a:t>
            </a:r>
            <a:r>
              <a:rPr/>
              <a:t> script, or </a:t>
            </a:r>
            <a:r>
              <a:rPr>
                <a:latin typeface="Courier"/>
              </a:rPr>
              <a:t>R</a:t>
            </a:r>
            <a:r>
              <a:rPr/>
              <a:t> notebook)</a:t>
            </a:r>
          </a:p>
          <a:p>
            <a:pPr lvl="1"/>
            <a:r>
              <a:rPr/>
              <a:t>Exception: install packages, quick checks in console</a:t>
            </a:r>
          </a:p>
          <a:p>
            <a:pPr lvl="0"/>
            <a:r>
              <a:rPr/>
              <a:t>To run a single line of code in a code cell</a:t>
            </a:r>
          </a:p>
          <a:p>
            <a:pPr lvl="1"/>
            <a:r>
              <a:rPr/>
              <a:t>Cursor over line, </a:t>
            </a:r>
            <a:r>
              <a:rPr b="1">
                <a:latin typeface="Courier"/>
              </a:rPr>
              <a:t>Ctrl + Enter</a:t>
            </a:r>
            <a:r>
              <a:rPr/>
              <a:t> (Windows/Linux) or </a:t>
            </a:r>
            <a:r>
              <a:rPr b="1">
                <a:latin typeface="Courier"/>
              </a:rPr>
              <a:t>Cmd + Enter</a:t>
            </a:r>
            <a:r>
              <a:rPr/>
              <a:t> (Mac).</a:t>
            </a:r>
          </a:p>
          <a:p>
            <a:pPr lvl="0"/>
            <a:r>
              <a:rPr/>
              <a:t>To run a full code cell (or script)</a:t>
            </a:r>
          </a:p>
          <a:p>
            <a:pPr lvl="1"/>
            <a:r>
              <a:rPr b="1">
                <a:latin typeface="Courier"/>
              </a:rPr>
              <a:t>Ctrl + Shift + Enter</a:t>
            </a:r>
            <a:r>
              <a:rPr/>
              <a:t> (Windows/Linux) or </a:t>
            </a:r>
            <a:r>
              <a:rPr b="1">
                <a:latin typeface="Courier"/>
              </a:rPr>
              <a:t>Cmd + Shift + Enter</a:t>
            </a:r>
            <a:r>
              <a:rPr/>
              <a:t> (Mac).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Live coding demo</a:t>
            </a:r>
          </a:p>
          <a:p>
            <a:pPr lvl="0"/>
            <a:r>
              <a:rPr/>
              <a:t>Demo of creating a new Quarto document and running code in a code cell</a:t>
            </a:r>
          </a:p>
          <a:p>
            <a:pPr lvl="0"/>
            <a:r>
              <a:rPr/>
              <a:t>Your turn next…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In-class exercise 0</a:t>
            </a:r>
          </a:p>
          <a:p>
            <a:pPr lvl="0"/>
            <a:r>
              <a:rPr/>
              <a:t>Create a new quarto document</a:t>
            </a:r>
          </a:p>
          <a:p>
            <a:pPr lvl="1"/>
            <a:r>
              <a:rPr>
                <a:latin typeface="Courier"/>
              </a:rPr>
              <a:t>File -&gt; New File -&gt; Quarto Document -&gt; Create</a:t>
            </a:r>
          </a:p>
          <a:p>
            <a:pPr lvl="0"/>
            <a:r>
              <a:rPr/>
              <a:t>Create a new code cell</a:t>
            </a:r>
          </a:p>
          <a:p>
            <a:pPr lvl="1"/>
            <a:r>
              <a:rPr>
                <a:latin typeface="Courier"/>
              </a:rPr>
              <a:t>Insert -&gt; Executable cell -&gt; R</a:t>
            </a:r>
          </a:p>
          <a:p>
            <a:pPr lvl="0"/>
            <a:r>
              <a:rPr/>
              <a:t>Practice running code below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</a:p>
          <a:p>
            <a:pPr lvl="0" indent="0">
              <a:buNone/>
            </a:pPr>
            <a:r>
              <a:rPr>
                <a:latin typeface="Courier"/>
              </a:rPr>
              <a:t>[1] 6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"Thank you for attending the intro to R session!"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"Thank you for attending the intro to R session!"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R</a:t>
            </a:r>
            <a:r>
              <a:rPr b="1"/>
              <a:t> programming fundamentals</a:t>
            </a:r>
          </a:p>
          <a:p>
            <a:pPr lvl="0" indent="0" marL="0">
              <a:buNone/>
            </a:pPr>
            <a:r>
              <a:rPr b="1"/>
              <a:t>Learning objectives</a:t>
            </a:r>
            <a:r>
              <a:rPr/>
              <a:t>:</a:t>
            </a:r>
          </a:p>
          <a:p>
            <a:pPr lvl="0"/>
            <a:r>
              <a:rPr/>
              <a:t>Comprehend R objects and functions</a:t>
            </a:r>
          </a:p>
          <a:p>
            <a:pPr lvl="0"/>
            <a:r>
              <a:rPr/>
              <a:t>Master basic syntax, including comments, assignment, and operators</a:t>
            </a:r>
          </a:p>
          <a:p>
            <a:pPr lvl="0"/>
            <a:r>
              <a:rPr/>
              <a:t>Understand data structures and types in 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Everything in R is an object</a:t>
            </a:r>
          </a:p>
          <a:p>
            <a:pPr lvl="1"/>
            <a:r>
              <a:rPr b="1"/>
              <a:t>Vectors</a:t>
            </a:r>
            <a:r>
              <a:rPr/>
              <a:t>: Ordered collection of same type</a:t>
            </a:r>
          </a:p>
          <a:p>
            <a:pPr lvl="1"/>
            <a:r>
              <a:rPr b="1"/>
              <a:t>Data Frames</a:t>
            </a:r>
            <a:r>
              <a:rPr/>
              <a:t>: Table of columns and rows</a:t>
            </a:r>
          </a:p>
          <a:p>
            <a:pPr lvl="1"/>
            <a:r>
              <a:rPr b="1"/>
              <a:t>Function</a:t>
            </a:r>
            <a:r>
              <a:rPr/>
              <a:t>: Reusable code block</a:t>
            </a:r>
          </a:p>
          <a:p>
            <a:pPr lvl="1"/>
            <a:r>
              <a:rPr b="1"/>
              <a:t>List</a:t>
            </a:r>
            <a:r>
              <a:rPr/>
              <a:t>: Ordered collection of objects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Objects in R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Numeric like `1`, `2.5`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Character: Text strings like `"hello"`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 &lt;- </a:t>
            </a:r>
            <a:r>
              <a:rPr>
                <a:solidFill>
                  <a:srgbClr val="20794D"/>
                </a:solidFill>
                <a:latin typeface="Courier"/>
              </a:rPr>
              <a:t>"hello"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Boolean: `TRUE`, `FALSE`</a:t>
            </a:r>
            <a:br/>
            <a:r>
              <a:rPr>
                <a:solidFill>
                  <a:srgbClr val="003B4F"/>
                </a:solidFill>
                <a:latin typeface="Courier"/>
              </a:rPr>
              <a:t>z &lt;-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Vectors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vec1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vec2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data.frames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(vec1, vec2)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Functions</a:t>
            </a:r>
          </a:p>
          <a:p>
            <a:pPr lvl="0"/>
            <a:r>
              <a:rPr/>
              <a:t>Built-in “base” functions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Functions in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result_sqrt &lt;-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result_sqrt</a:t>
            </a:r>
          </a:p>
          <a:p>
            <a:pPr lvl="0" indent="0">
              <a:buNone/>
            </a:pPr>
            <a:r>
              <a:rPr>
                <a:latin typeface="Courier"/>
              </a:rPr>
              <a:t>[1] 5</a:t>
            </a:r>
          </a:p>
          <a:p>
            <a:pPr lvl="0"/>
            <a:r>
              <a:rPr/>
              <a:t>Custom, user-defined functions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User-Defined Functions: Custom functions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my_function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(a, b)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(a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b)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my_function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7</a:t>
            </a:r>
          </a:p>
          <a:p>
            <a:pPr lvl="0"/>
            <a:r>
              <a:rPr/>
              <a:t>Functions from packages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User-Defined Functions: Custom functions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(here) </a:t>
            </a:r>
            <a:r>
              <a:rPr i="1">
                <a:solidFill>
                  <a:srgbClr val="5E5E5E"/>
                </a:solidFill>
                <a:latin typeface="Courier"/>
              </a:rPr>
              <a:t>## library package here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here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 i="1">
                <a:solidFill>
                  <a:srgbClr val="5E5E5E"/>
                </a:solidFill>
                <a:latin typeface="Courier"/>
              </a:rPr>
              <a:t>## run custom "here" function to print out working directory </a:t>
            </a:r>
          </a:p>
          <a:p>
            <a:pPr lvl="0" indent="0">
              <a:buNone/>
            </a:pPr>
            <a:r>
              <a:rPr>
                <a:latin typeface="Courier"/>
              </a:rPr>
              <a:t>[1] "/Users/cb48679/workspace/intro_r"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Comments</a:t>
            </a:r>
          </a:p>
          <a:p>
            <a:pPr lvl="0"/>
            <a:r>
              <a:rPr/>
              <a:t>Use </a:t>
            </a:r>
            <a:r>
              <a:rPr b="1">
                <a:latin typeface="Courier"/>
              </a:rPr>
              <a:t>#</a:t>
            </a:r>
            <a:r>
              <a:rPr/>
              <a:t> to start a single-line comment</a:t>
            </a:r>
          </a:p>
          <a:p>
            <a:pPr lvl="0"/>
            <a:r>
              <a:rPr/>
              <a:t>Comments are an important way to document code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Add comments 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assigns 1 to x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the line below won't assign 12 to x because it's commented out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x &lt;- 12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x</a:t>
            </a:r>
          </a:p>
          <a:p>
            <a:pPr lvl="0" indent="0">
              <a:buNone/>
            </a:pPr>
            <a:r>
              <a:rPr>
                <a:latin typeface="Courier"/>
              </a:rPr>
              <a:t>[1] 7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Assignment operators</a:t>
            </a:r>
          </a:p>
          <a:p>
            <a:pPr lvl="0"/>
            <a:r>
              <a:rPr/>
              <a:t>Use </a:t>
            </a:r>
            <a:r>
              <a:rPr b="1">
                <a:latin typeface="Courier"/>
              </a:rPr>
              <a:t>&lt;-</a:t>
            </a:r>
            <a:r>
              <a:rPr/>
              <a:t> or </a:t>
            </a:r>
            <a:r>
              <a:rPr>
                <a:latin typeface="Courier"/>
              </a:rPr>
              <a:t>=</a:t>
            </a:r>
            <a:r>
              <a:rPr/>
              <a:t> for assignment</a:t>
            </a:r>
          </a:p>
          <a:p>
            <a:pPr lvl="1"/>
            <a:r>
              <a:rPr>
                <a:latin typeface="Courier"/>
              </a:rPr>
              <a:t>&lt;-</a:t>
            </a:r>
            <a:r>
              <a:rPr/>
              <a:t> is preferred and advised for readability</a:t>
            </a:r>
          </a:p>
          <a:p>
            <a:pPr lvl="0"/>
            <a:r>
              <a:rPr/>
              <a:t>Formally, assignment means “assign the result of the operation on the right to object on the left”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Add comments 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assigns 7 to x 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Question: what does this do?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 &lt;- x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Arithmetic operators</a:t>
            </a:r>
          </a:p>
          <a:p>
            <a:pPr lvl="0"/>
            <a:r>
              <a:rPr/>
              <a:t>Addition / Subtraction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R as a calculator (# adds a comment)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Addition </a:t>
            </a:r>
            <a:br/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</a:p>
          <a:p>
            <a:pPr lvl="0" indent="0">
              <a:buNone/>
            </a:pPr>
            <a:r>
              <a:rPr>
                <a:latin typeface="Courier"/>
              </a:rPr>
              <a:t>[1] 13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Subtraction  </a:t>
            </a:r>
            <a:br/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/>
            <a:r>
              <a:rPr/>
              <a:t>Multiplication / division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Multiplication  </a:t>
            </a:r>
            <a:br/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</a:p>
          <a:p>
            <a:pPr lvl="0" indent="0">
              <a:buNone/>
            </a:pPr>
            <a:r>
              <a:rPr>
                <a:latin typeface="Courier"/>
              </a:rPr>
              <a:t>[1] 12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Division</a:t>
            </a:r>
            <a:br/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/>
            <a:r>
              <a:rPr/>
              <a:t>Exponents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exponents </a:t>
            </a:r>
            <a:br/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i="1">
                <a:solidFill>
                  <a:srgbClr val="5E5E5E"/>
                </a:solidFill>
                <a:latin typeface="Courier"/>
              </a:rPr>
              <a:t>## or 10 ** 2 </a:t>
            </a:r>
          </a:p>
          <a:p>
            <a:pPr lvl="0" indent="0">
              <a:buNone/>
            </a:pPr>
            <a:r>
              <a:rPr>
                <a:latin typeface="Courier"/>
              </a:rPr>
              <a:t>[1] 100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Comparison and logical operators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Operators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Symbol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&amp;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|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!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Equal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==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Not Equal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!=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Greater/Less Than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&gt; or &lt;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Greater/Less Than or Equal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&gt;= or &lt;=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Element-wise 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%in%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Examples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Logical operators </a:t>
            </a:r>
            <a:br/>
            <a:br/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</a:p>
          <a:p>
            <a:pPr lvl="0" indent="0">
              <a:buNone/>
            </a:pPr>
            <a:r>
              <a:rPr>
                <a:latin typeface="Courier"/>
              </a:rPr>
              <a:t>[1] TRUE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</a:p>
          <a:p>
            <a:pPr lvl="0" indent="0">
              <a:buNone/>
            </a:pPr>
            <a:r>
              <a:rPr>
                <a:latin typeface="Courier"/>
              </a:rPr>
              <a:t>[1] FALSE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</a:p>
          <a:p>
            <a:pPr lvl="0" indent="0">
              <a:buNone/>
            </a:pPr>
            <a:r>
              <a:rPr>
                <a:latin typeface="Courier"/>
              </a:rPr>
              <a:t>[1] TRUE</a:t>
            </a:r>
          </a:p>
          <a:p>
            <a:pPr lvl="0" indent="0">
              <a:buNone/>
            </a:pPr>
            <a:r>
              <a:rPr>
                <a:solidFill>
                  <a:srgbClr val="20794D"/>
                </a:solidFill>
                <a:latin typeface="Courier"/>
              </a:rPr>
              <a:t>"apple"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"bananas"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"oranges"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FALSE</a:t>
            </a:r>
          </a:p>
          <a:p>
            <a:pPr lvl="0" indent="0">
              <a:buNone/>
            </a:pPr>
            <a:r>
              <a:rPr>
                <a:solidFill>
                  <a:srgbClr val="20794D"/>
                </a:solidFill>
                <a:latin typeface="Courier"/>
              </a:rPr>
              <a:t>"apple"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"bananas"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"apple"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"apple"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</a:p>
          <a:p>
            <a:pPr lvl="0" indent="0">
              <a:buNone/>
            </a:pPr>
            <a:r>
              <a:rPr>
                <a:latin typeface="Courier"/>
              </a:rPr>
              <a:t>[1] TRUE</a:t>
            </a:r>
          </a:p>
          <a:p>
            <a:pPr lvl="0" indent="0">
              <a:buNone/>
            </a:pPr>
            <a:r>
              <a:rPr>
                <a:solidFill>
                  <a:srgbClr val="20794D"/>
                </a:solidFill>
                <a:latin typeface="Courier"/>
              </a:rPr>
              <a:t>"apple"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"bananas"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"apple"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"apple"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</a:p>
          <a:p>
            <a:pPr lvl="0" indent="0">
              <a:buNone/>
            </a:pPr>
            <a:r>
              <a:rPr>
                <a:latin typeface="Courier"/>
              </a:rPr>
              <a:t>[1] FALSE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structures</a:t>
            </a:r>
          </a:p>
          <a:p>
            <a:pPr lvl="0"/>
            <a:r>
              <a:rPr/>
              <a:t>There are lots of data structures; we’ll focus on </a:t>
            </a:r>
            <a:r>
              <a:rPr>
                <a:latin typeface="Courier"/>
              </a:rPr>
              <a:t>vectors</a:t>
            </a:r>
            <a:r>
              <a:rPr/>
              <a:t> and </a:t>
            </a:r>
            <a:r>
              <a:rPr>
                <a:latin typeface="Courier"/>
              </a:rPr>
              <a:t>data frames</a:t>
            </a:r>
            <a:r>
              <a:rPr/>
              <a:t>.</a:t>
            </a:r>
          </a:p>
          <a:p>
            <a:pPr lvl="1"/>
            <a:r>
              <a:rPr>
                <a:latin typeface="Courier"/>
              </a:rPr>
              <a:t>Vectors</a:t>
            </a:r>
            <a:r>
              <a:rPr/>
              <a:t>: One-dimensional arrays that hold elements of a single data type (e.g., all numeric or all character).</a:t>
            </a:r>
          </a:p>
          <a:p>
            <a:pPr lvl="1"/>
            <a:r>
              <a:rPr>
                <a:latin typeface="Courier"/>
              </a:rPr>
              <a:t>Data frames</a:t>
            </a:r>
            <a:r>
              <a:rPr/>
              <a:t>: Two-dimensional tables where each column can have a different data type; essentially a list of vectors of equal length.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Vectors</a:t>
            </a:r>
            <a:r>
              <a:rPr b="1"/>
              <a:t> and </a:t>
            </a:r>
            <a:r>
              <a:rPr b="1">
                <a:latin typeface="Courier"/>
              </a:rPr>
              <a:t>data frames</a:t>
            </a:r>
          </a:p>
          <a:p>
            <a:pPr lvl="0"/>
            <a:r>
              <a:rPr>
                <a:latin typeface="Courier"/>
              </a:rPr>
              <a:t>Vector</a:t>
            </a:r>
            <a:r>
              <a:rPr/>
              <a:t> example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Vector Example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vec_example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vec_example </a:t>
            </a:r>
            <a:r>
              <a:rPr i="1">
                <a:solidFill>
                  <a:srgbClr val="5E5E5E"/>
                </a:solidFill>
                <a:latin typeface="Courier"/>
              </a:rPr>
              <a:t>## prints out vec_example</a:t>
            </a:r>
          </a:p>
          <a:p>
            <a:pPr lvl="0" indent="0">
              <a:buNone/>
            </a:pPr>
            <a:r>
              <a:rPr>
                <a:latin typeface="Courier"/>
              </a:rPr>
              <a:t>[1] 1 2 3 4 5</a:t>
            </a:r>
          </a:p>
          <a:p>
            <a:pPr lvl="0"/>
            <a:r>
              <a:rPr>
                <a:latin typeface="Courier"/>
              </a:rPr>
              <a:t>Data frame</a:t>
            </a:r>
            <a:r>
              <a:rPr/>
              <a:t> example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Data.frame example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example_df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"Alice"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"Bob"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"Charlie"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"David"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Age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Score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90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example_df </a:t>
            </a:r>
            <a:r>
              <a:rPr i="1">
                <a:solidFill>
                  <a:srgbClr val="5E5E5E"/>
                </a:solidFill>
                <a:latin typeface="Courier"/>
              </a:rPr>
              <a:t>## prints out df_example </a:t>
            </a:r>
          </a:p>
          <a:p>
            <a:pPr lvl="0" indent="0">
              <a:buNone/>
            </a:pPr>
            <a:r>
              <a:rPr>
                <a:latin typeface="Courier"/>
              </a:rPr>
              <a:t>  ID    Name Age Score
1  1   Alice  25    90
2  2     Bob  30    85
3  3 Charlie  35    88
4  4   David  40    76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types</a:t>
            </a:r>
          </a:p>
          <a:p>
            <a:pPr lvl="0"/>
            <a:r>
              <a:rPr/>
              <a:t>Each </a:t>
            </a:r>
            <a:r>
              <a:rPr>
                <a:latin typeface="Courier"/>
              </a:rPr>
              <a:t>vector</a:t>
            </a:r>
            <a:r>
              <a:rPr/>
              <a:t> or </a:t>
            </a:r>
            <a:r>
              <a:rPr>
                <a:latin typeface="Courier"/>
              </a:rPr>
              <a:t>data frame</a:t>
            </a:r>
            <a:r>
              <a:rPr/>
              <a:t> column can only contain one data type:</a:t>
            </a:r>
          </a:p>
          <a:p>
            <a:pPr lvl="1"/>
            <a:r>
              <a:rPr>
                <a:latin typeface="Courier"/>
              </a:rPr>
              <a:t>Numeric</a:t>
            </a:r>
            <a:r>
              <a:rPr/>
              <a:t>: Used for numerical values like integers or decimals.</a:t>
            </a:r>
          </a:p>
          <a:p>
            <a:pPr lvl="1"/>
            <a:r>
              <a:rPr>
                <a:latin typeface="Courier"/>
              </a:rPr>
              <a:t>Character</a:t>
            </a:r>
            <a:r>
              <a:rPr/>
              <a:t>: Holds text and alphanumeric characters.</a:t>
            </a:r>
          </a:p>
          <a:p>
            <a:pPr lvl="1"/>
            <a:r>
              <a:rPr>
                <a:latin typeface="Courier"/>
              </a:rPr>
              <a:t>Logical</a:t>
            </a:r>
            <a:r>
              <a:rPr/>
              <a:t>: Represents binary values - TRUE or FALSE.</a:t>
            </a:r>
          </a:p>
          <a:p>
            <a:pPr lvl="1"/>
            <a:r>
              <a:rPr>
                <a:latin typeface="Courier"/>
              </a:rPr>
              <a:t>Factor</a:t>
            </a:r>
            <a:r>
              <a:rPr/>
              <a:t>: Categorical data, either ordered or unordered, stored as levels.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generate vectors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vec1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vec2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check type 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(vec1)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"numeric"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(vec2)</a:t>
            </a:r>
          </a:p>
          <a:p>
            <a:pPr lvl="0" indent="0">
              <a:buNone/>
            </a:pPr>
            <a:r>
              <a:rPr>
                <a:latin typeface="Courier"/>
              </a:rPr>
              <a:t>[1] "character"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NA</a:t>
            </a:r>
            <a:r>
              <a:rPr b="1"/>
              <a:t> (missing) values in </a:t>
            </a:r>
            <a:r>
              <a:rPr b="1">
                <a:latin typeface="Courier"/>
              </a:rPr>
              <a:t>R</a:t>
            </a:r>
          </a:p>
          <a:p>
            <a:pPr lvl="0"/>
            <a:r>
              <a:rPr>
                <a:latin typeface="Courier"/>
              </a:rPr>
              <a:t>NA</a:t>
            </a:r>
            <a:r>
              <a:rPr/>
              <a:t> represents missing or undefined data.</a:t>
            </a:r>
          </a:p>
          <a:p>
            <a:pPr lvl="1"/>
            <a:r>
              <a:rPr/>
              <a:t>Can vary by data type (e.g., </a:t>
            </a:r>
            <a:r>
              <a:rPr>
                <a:latin typeface="Courier"/>
              </a:rPr>
              <a:t>NA_character_</a:t>
            </a:r>
            <a:r>
              <a:rPr/>
              <a:t> and </a:t>
            </a:r>
            <a:r>
              <a:rPr>
                <a:latin typeface="Courier"/>
              </a:rPr>
              <a:t>NA_integer_</a:t>
            </a:r>
            <a:r>
              <a:rPr/>
              <a:t>)</a:t>
            </a:r>
          </a:p>
          <a:p>
            <a:pPr lvl="0"/>
            <a:r>
              <a:rPr b="1">
                <a:latin typeface="Courier"/>
              </a:rPr>
              <a:t>NA</a:t>
            </a:r>
            <a:r>
              <a:rPr/>
              <a:t> values can affect summary statistics and data visualization.</a:t>
            </a:r>
          </a:p>
          <a:p>
            <a:pPr lvl="0"/>
            <a:r>
              <a:rPr/>
              <a:t>What happens when you run the code below?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vec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(vec)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Generating sequences in </a:t>
            </a:r>
            <a:r>
              <a:rPr b="1">
                <a:latin typeface="Courier"/>
              </a:rPr>
              <a:t>R</a:t>
            </a:r>
          </a:p>
          <a:p>
            <a:pPr lvl="0"/>
            <a:r>
              <a:rPr/>
              <a:t>Method 1: Manually write out sequence using </a:t>
            </a:r>
            <a:r>
              <a:rPr>
                <a:latin typeface="Courier"/>
              </a:rPr>
              <a:t>c()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Basic 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[1]  1  2  3  4  5  6  7  8  9 10</a:t>
            </a:r>
          </a:p>
          <a:p>
            <a:pPr lvl="0"/>
            <a:r>
              <a:rPr/>
              <a:t>Method 2: Colon operator (</a:t>
            </a:r>
            <a:r>
              <a:rPr>
                <a:latin typeface="Courier"/>
              </a:rPr>
              <a:t>:</a:t>
            </a:r>
            <a:r>
              <a:rPr/>
              <a:t>), creates sequences with increments of 1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[1]  1  2  3  4  5  6  7  8  9 10</a:t>
            </a:r>
          </a:p>
          <a:p>
            <a:pPr lvl="0"/>
            <a:r>
              <a:rPr/>
              <a:t>Method 3: </a:t>
            </a:r>
            <a:r>
              <a:rPr b="1">
                <a:latin typeface="Courier"/>
              </a:rPr>
              <a:t>seq()</a:t>
            </a:r>
            <a:r>
              <a:rPr/>
              <a:t> Function: More flexible and allows you to specify the </a:t>
            </a:r>
            <a:r>
              <a:rPr b="1">
                <a:latin typeface="Courier"/>
              </a:rPr>
              <a:t>start</a:t>
            </a:r>
            <a:r>
              <a:rPr/>
              <a:t>, </a:t>
            </a:r>
            <a:r>
              <a:rPr b="1">
                <a:latin typeface="Courier"/>
              </a:rPr>
              <a:t>end</a:t>
            </a:r>
            <a:r>
              <a:rPr/>
              <a:t>, and </a:t>
            </a:r>
            <a:r>
              <a:rPr b="1">
                <a:latin typeface="Courier"/>
              </a:rPr>
              <a:t>by</a:t>
            </a:r>
            <a:r>
              <a:rPr/>
              <a:t> parameters.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seq 1-10, by = 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1 3 5 7 9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Functions</a:t>
            </a:r>
          </a:p>
          <a:p>
            <a:pPr lvl="0"/>
            <a:r>
              <a:rPr/>
              <a:t>Function: Input arguments, performs operations on them, and returns a result</a:t>
            </a:r>
          </a:p>
          <a:p>
            <a:pPr lvl="0"/>
            <a:r>
              <a:rPr/>
              <a:t>For each of the below functions, what are the:</a:t>
            </a:r>
          </a:p>
          <a:p>
            <a:pPr lvl="1"/>
            <a:r>
              <a:rPr/>
              <a:t>Input arguments?</a:t>
            </a:r>
          </a:p>
          <a:p>
            <a:pPr lvl="1"/>
            <a:r>
              <a:rPr/>
              <a:t>Operations performed?</a:t>
            </a:r>
          </a:p>
          <a:p>
            <a:pPr lvl="1"/>
            <a:r>
              <a:rPr/>
              <a:t>Results?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hint: rnorm simulates random draws from a standard normal distribution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random_draws &lt;-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find the mean 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(random_draws)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0.08688706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find the median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(random_draws)</a:t>
            </a:r>
          </a:p>
          <a:p>
            <a:pPr lvl="0" indent="0">
              <a:buNone/>
            </a:pPr>
            <a:r>
              <a:rPr>
                <a:latin typeface="Courier"/>
              </a:rPr>
              <a:t>[1] -0.1895134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find the standard deviation 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(random_draws)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0.8448568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Keyboard shortcuts</a:t>
            </a:r>
          </a:p>
          <a:p>
            <a:pPr lvl="0" indent="0" marL="0">
              <a:buNone/>
            </a:pPr>
            <a:r>
              <a:rPr/>
              <a:t>Insert new code cell</a:t>
            </a:r>
          </a:p>
          <a:p>
            <a:pPr lvl="0"/>
            <a:r>
              <a:rPr/>
              <a:t>macOS: </a:t>
            </a:r>
            <a:r>
              <a:rPr>
                <a:latin typeface="Courier"/>
              </a:rPr>
              <a:t>Cmd</a:t>
            </a:r>
            <a:r>
              <a:rPr/>
              <a:t> + </a:t>
            </a:r>
            <a:r>
              <a:rPr>
                <a:latin typeface="Courier"/>
              </a:rPr>
              <a:t>Option</a:t>
            </a:r>
            <a:r>
              <a:rPr/>
              <a:t> + </a:t>
            </a:r>
            <a:r>
              <a:rPr>
                <a:latin typeface="Courier"/>
              </a:rPr>
              <a:t>I</a:t>
            </a:r>
          </a:p>
          <a:p>
            <a:pPr lvl="0"/>
            <a:r>
              <a:rPr/>
              <a:t>Windows/Linux: </a:t>
            </a:r>
            <a:r>
              <a:rPr>
                <a:latin typeface="Courier"/>
              </a:rPr>
              <a:t>Ctrl</a:t>
            </a:r>
            <a:r>
              <a:rPr/>
              <a:t> + </a:t>
            </a:r>
            <a:r>
              <a:rPr>
                <a:latin typeface="Courier"/>
              </a:rPr>
              <a:t>Alt</a:t>
            </a:r>
            <a:r>
              <a:rPr/>
              <a:t> + </a:t>
            </a:r>
            <a:r>
              <a:rPr>
                <a:latin typeface="Courier"/>
              </a:rPr>
              <a:t>I</a:t>
            </a:r>
          </a:p>
          <a:p>
            <a:pPr lvl="0" indent="0" marL="0">
              <a:buNone/>
            </a:pPr>
            <a:r>
              <a:rPr/>
              <a:t>Run full code cell or script</a:t>
            </a:r>
          </a:p>
          <a:p>
            <a:pPr lvl="0"/>
            <a:r>
              <a:rPr/>
              <a:t>macOS: </a:t>
            </a:r>
            <a:r>
              <a:rPr>
                <a:latin typeface="Courier"/>
              </a:rPr>
              <a:t>Cmd</a:t>
            </a:r>
            <a:r>
              <a:rPr/>
              <a:t> + </a:t>
            </a:r>
            <a:r>
              <a:rPr>
                <a:latin typeface="Courier"/>
              </a:rPr>
              <a:t>Shift</a:t>
            </a:r>
            <a:r>
              <a:rPr/>
              <a:t> + </a:t>
            </a:r>
            <a:r>
              <a:rPr>
                <a:latin typeface="Courier"/>
              </a:rPr>
              <a:t>Enter</a:t>
            </a:r>
          </a:p>
          <a:p>
            <a:pPr lvl="0"/>
            <a:r>
              <a:rPr/>
              <a:t>Windows/Linux: </a:t>
            </a:r>
            <a:r>
              <a:rPr>
                <a:latin typeface="Courier"/>
              </a:rPr>
              <a:t>Ctrl</a:t>
            </a:r>
            <a:r>
              <a:rPr/>
              <a:t> + </a:t>
            </a:r>
            <a:r>
              <a:rPr>
                <a:latin typeface="Courier"/>
              </a:rPr>
              <a:t>Shift</a:t>
            </a:r>
            <a:r>
              <a:rPr/>
              <a:t> + </a:t>
            </a:r>
            <a:r>
              <a:rPr>
                <a:latin typeface="Courier"/>
              </a:rPr>
              <a:t>enter</a:t>
            </a:r>
          </a:p>
          <a:p>
            <a:pPr lvl="0" indent="0" marL="0">
              <a:buNone/>
            </a:pPr>
            <a:r>
              <a:rPr/>
              <a:t>Assignment operator (creates </a:t>
            </a:r>
            <a:r>
              <a:rPr b="1">
                <a:latin typeface="Courier"/>
              </a:rPr>
              <a:t>&lt;-</a:t>
            </a:r>
            <a:r>
              <a:rPr/>
              <a:t>)</a:t>
            </a:r>
          </a:p>
          <a:p>
            <a:pPr lvl="0"/>
            <a:r>
              <a:rPr/>
              <a:t>macOS: </a:t>
            </a:r>
            <a:r>
              <a:rPr>
                <a:latin typeface="Courier"/>
              </a:rPr>
              <a:t>option</a:t>
            </a:r>
            <a:r>
              <a:rPr/>
              <a:t> + </a:t>
            </a:r>
            <a:r>
              <a:rPr>
                <a:latin typeface="Courier"/>
              </a:rPr>
              <a:t>-</a:t>
            </a:r>
          </a:p>
          <a:p>
            <a:pPr lvl="0"/>
            <a:r>
              <a:rPr/>
              <a:t>Windows/Linux: </a:t>
            </a:r>
            <a:r>
              <a:rPr>
                <a:latin typeface="Courier"/>
              </a:rPr>
              <a:t>option</a:t>
            </a:r>
            <a:r>
              <a:rPr/>
              <a:t> + </a:t>
            </a:r>
            <a:r>
              <a:rPr>
                <a:latin typeface="Courier"/>
              </a:rPr>
              <a:t>-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Live coding demo</a:t>
            </a:r>
          </a:p>
          <a:p>
            <a:pPr lvl="0"/>
            <a:r>
              <a:rPr/>
              <a:t>Assignment (e.g., </a:t>
            </a:r>
            <a:r>
              <a:rPr>
                <a:latin typeface="Courier"/>
              </a:rPr>
              <a:t>x &lt;- 4</a:t>
            </a:r>
            <a:r>
              <a:rPr/>
              <a:t>)</a:t>
            </a:r>
          </a:p>
          <a:p>
            <a:pPr lvl="0"/>
            <a:r>
              <a:rPr/>
              <a:t>Logical expressions (e.g., </a:t>
            </a:r>
            <a:r>
              <a:rPr>
                <a:latin typeface="Courier"/>
              </a:rPr>
              <a:t>x &gt; 10</a:t>
            </a:r>
            <a:r>
              <a:rPr/>
              <a:t>)</a:t>
            </a:r>
          </a:p>
          <a:p>
            <a:pPr lvl="0"/>
            <a:r>
              <a:rPr/>
              <a:t>Creating a basic sequence</a:t>
            </a:r>
          </a:p>
          <a:p>
            <a:pPr lvl="0"/>
            <a:r>
              <a:rPr/>
              <a:t>Your turn next…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In-class exercise 1</a:t>
            </a:r>
          </a:p>
          <a:p>
            <a:pPr lvl="0" indent="-342900" marL="342900">
              <a:buAutoNum type="arabicPeriod"/>
            </a:pPr>
            <a:r>
              <a:rPr/>
              <a:t>Assign </a:t>
            </a:r>
            <a:r>
              <a:rPr>
                <a:latin typeface="Courier"/>
              </a:rPr>
              <a:t>x</a:t>
            </a:r>
            <a:r>
              <a:rPr/>
              <a:t> and </a:t>
            </a:r>
            <a:r>
              <a:rPr>
                <a:latin typeface="Courier"/>
              </a:rPr>
              <a:t>y</a:t>
            </a:r>
            <a:r>
              <a:rPr/>
              <a:t> to take values 3 and 4.</a:t>
            </a:r>
          </a:p>
          <a:p>
            <a:pPr lvl="0" indent="-342900" marL="342900">
              <a:buAutoNum type="arabicPeriod"/>
            </a:pPr>
            <a:r>
              <a:rPr/>
              <a:t>Assign </a:t>
            </a:r>
            <a:r>
              <a:rPr>
                <a:latin typeface="Courier"/>
              </a:rPr>
              <a:t>z</a:t>
            </a:r>
            <a:r>
              <a:rPr/>
              <a:t> as the product of </a:t>
            </a:r>
            <a:r>
              <a:rPr>
                <a:latin typeface="Courier"/>
              </a:rPr>
              <a:t>x</a:t>
            </a:r>
            <a:r>
              <a:rPr/>
              <a:t> and </a:t>
            </a:r>
            <a:r>
              <a:rPr>
                <a:latin typeface="Courier"/>
              </a:rPr>
              <a:t>y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Write code to calculate the square of 3. Assign this to a variable </a:t>
            </a:r>
            <a:r>
              <a:rPr>
                <a:latin typeface="Courier"/>
              </a:rPr>
              <a:t>three_squared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Write a logical expression to check if </a:t>
            </a:r>
            <a:r>
              <a:rPr>
                <a:latin typeface="Courier"/>
              </a:rPr>
              <a:t>three_squared</a:t>
            </a:r>
            <a:r>
              <a:rPr/>
              <a:t> is greater than 10.</a:t>
            </a:r>
          </a:p>
          <a:p>
            <a:pPr lvl="0" indent="-342900" marL="342900">
              <a:buAutoNum type="arabicPeriod"/>
            </a:pPr>
            <a:r>
              <a:rPr/>
              <a:t>Write a logical expression testing whether </a:t>
            </a:r>
            <a:r>
              <a:rPr>
                <a:latin typeface="Courier"/>
              </a:rPr>
              <a:t>x</a:t>
            </a:r>
            <a:r>
              <a:rPr/>
              <a:t> is </a:t>
            </a:r>
            <a:r>
              <a:rPr i="1"/>
              <a:t>not</a:t>
            </a:r>
            <a:r>
              <a:rPr/>
              <a:t> greater than 10. Use the </a:t>
            </a:r>
            <a:r>
              <a:rPr>
                <a:latin typeface="Courier"/>
              </a:rPr>
              <a:t>negate</a:t>
            </a:r>
            <a:r>
              <a:rPr/>
              <a:t> symbol (</a:t>
            </a:r>
            <a:r>
              <a:rPr>
                <a:latin typeface="Courier"/>
              </a:rPr>
              <a:t>!</a:t>
            </a:r>
            <a:r>
              <a:rPr/>
              <a:t>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1 solutions</a:t>
            </a:r>
          </a:p>
          <a:p>
            <a:pPr lvl="0" indent="-342900" marL="342900">
              <a:buAutoNum type="arabicPeriod"/>
            </a:pPr>
            <a:r>
              <a:rPr/>
              <a:t>Assign </a:t>
            </a:r>
            <a:r>
              <a:rPr>
                <a:latin typeface="Courier"/>
              </a:rPr>
              <a:t>x</a:t>
            </a:r>
            <a:r>
              <a:rPr/>
              <a:t> and </a:t>
            </a:r>
            <a:r>
              <a:rPr>
                <a:latin typeface="Courier"/>
              </a:rPr>
              <a:t>y</a:t>
            </a:r>
            <a:r>
              <a:rPr/>
              <a:t> to take values 3 and 4.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 &lt;-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</a:p>
          <a:p>
            <a:pPr lvl="0" indent="-342900" marL="342900">
              <a:buAutoNum startAt="2" type="arabicPeriod"/>
            </a:pPr>
            <a:r>
              <a:rPr/>
              <a:t>Assign </a:t>
            </a:r>
            <a:r>
              <a:rPr>
                <a:latin typeface="Courier"/>
              </a:rPr>
              <a:t>z</a:t>
            </a:r>
            <a:r>
              <a:rPr/>
              <a:t> as the product of </a:t>
            </a:r>
            <a:r>
              <a:rPr>
                <a:latin typeface="Courier"/>
              </a:rPr>
              <a:t>x</a:t>
            </a:r>
            <a:r>
              <a:rPr/>
              <a:t> and </a:t>
            </a:r>
            <a:r>
              <a:rPr>
                <a:latin typeface="Courier"/>
              </a:rPr>
              <a:t>y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z &lt;- 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y</a:t>
            </a:r>
          </a:p>
          <a:p>
            <a:pPr lvl="0" indent="-342900" marL="342900">
              <a:buAutoNum startAt="3" type="arabicPeriod"/>
            </a:pPr>
            <a:r>
              <a:rPr/>
              <a:t>Calculate the square of 3 and assign it to a variable called </a:t>
            </a:r>
            <a:r>
              <a:rPr>
                <a:latin typeface="Courier"/>
              </a:rPr>
              <a:t>three_squared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three_squared &lt;-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</a:p>
          <a:p>
            <a:pPr lvl="0" indent="-342900" marL="342900">
              <a:buAutoNum startAt="4" type="arabicPeriod"/>
            </a:pPr>
            <a:r>
              <a:rPr/>
              <a:t>Write a logical expression to check if </a:t>
            </a:r>
            <a:r>
              <a:rPr>
                <a:latin typeface="Courier"/>
              </a:rPr>
              <a:t>three_squared</a:t>
            </a:r>
            <a:r>
              <a:rPr/>
              <a:t> is greater than 10.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three_squared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</a:p>
          <a:p>
            <a:pPr lvl="0" indent="0">
              <a:buNone/>
            </a:pPr>
            <a:r>
              <a:rPr>
                <a:latin typeface="Courier"/>
              </a:rPr>
              <a:t>[1] FALSE</a:t>
            </a:r>
          </a:p>
          <a:p>
            <a:pPr lvl="0" indent="-342900" marL="342900">
              <a:buAutoNum startAt="5" type="arabicPeriod"/>
            </a:pPr>
            <a:r>
              <a:rPr/>
              <a:t>Write a logical expression to test whether </a:t>
            </a:r>
            <a:r>
              <a:rPr>
                <a:latin typeface="Courier"/>
              </a:rPr>
              <a:t>three_squared</a:t>
            </a:r>
            <a:r>
              <a:rPr/>
              <a:t> is </a:t>
            </a:r>
            <a:r>
              <a:rPr i="1"/>
              <a:t>not</a:t>
            </a:r>
            <a:r>
              <a:rPr/>
              <a:t> greater than 10. Use the </a:t>
            </a:r>
            <a:r>
              <a:rPr>
                <a:latin typeface="Courier"/>
              </a:rPr>
              <a:t>negate</a:t>
            </a:r>
            <a:r>
              <a:rPr/>
              <a:t> symbol (</a:t>
            </a:r>
            <a:r>
              <a:rPr>
                <a:latin typeface="Courier"/>
              </a:rPr>
              <a:t>!</a:t>
            </a:r>
            <a:r>
              <a:rPr/>
              <a:t>).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003B4F"/>
                </a:solidFill>
                <a:latin typeface="Courier"/>
              </a:rPr>
              <a:t>three_squared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</a:p>
          <a:p>
            <a:pPr lvl="0" indent="0">
              <a:buNone/>
            </a:pPr>
            <a:r>
              <a:rPr>
                <a:latin typeface="Courier"/>
              </a:rPr>
              <a:t>[1] TRUE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In-class exercise 2</a:t>
            </a:r>
          </a:p>
          <a:p>
            <a:pPr lvl="0" indent="-342900" marL="342900">
              <a:buAutoNum type="arabicPeriod"/>
            </a:pPr>
            <a:r>
              <a:rPr/>
              <a:t>Generate vectors containing the numbers 100, 101, 102, 103, 104, and 105 using 3 different methods (e.g., </a:t>
            </a:r>
            <a:r>
              <a:rPr b="1">
                <a:latin typeface="Courier"/>
              </a:rPr>
              <a:t>c()</a:t>
            </a:r>
            <a:r>
              <a:rPr/>
              <a:t>, </a:t>
            </a:r>
            <a:r>
              <a:rPr b="1">
                <a:latin typeface="Courier"/>
              </a:rPr>
              <a:t>seq()</a:t>
            </a:r>
            <a:r>
              <a:rPr/>
              <a:t>, </a:t>
            </a:r>
            <a:r>
              <a:rPr b="1">
                <a:latin typeface="Courier"/>
              </a:rPr>
              <a:t>:</a:t>
            </a:r>
            <a:r>
              <a:rPr/>
              <a:t>). In what scenarios might each method be most convenient?</a:t>
            </a:r>
          </a:p>
          <a:p>
            <a:pPr lvl="0" indent="-342900" marL="342900">
              <a:buAutoNum type="arabicPeriod"/>
            </a:pPr>
            <a:r>
              <a:rPr/>
              <a:t>Generate a sequences of all </a:t>
            </a:r>
            <a:r>
              <a:rPr b="1"/>
              <a:t>even</a:t>
            </a:r>
            <a:r>
              <a:rPr/>
              <a:t> numbers between 0 and 100. Use the </a:t>
            </a:r>
            <a:r>
              <a:rPr>
                <a:latin typeface="Courier"/>
              </a:rPr>
              <a:t>seq()</a:t>
            </a:r>
            <a:r>
              <a:rPr/>
              <a:t> function.</a:t>
            </a:r>
          </a:p>
          <a:p>
            <a:pPr lvl="0" indent="-342900" marL="342900">
              <a:buAutoNum type="arabicPeriod"/>
            </a:pPr>
            <a:r>
              <a:rPr/>
              <a:t>Create a descending sequence of numbers from 100 to 1, and assign it to a variable. Use the </a:t>
            </a:r>
            <a:r>
              <a:rPr>
                <a:latin typeface="Courier"/>
              </a:rPr>
              <a:t>seq()</a:t>
            </a:r>
            <a:r>
              <a:rPr/>
              <a:t> function.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2 solutions</a:t>
            </a:r>
          </a:p>
          <a:p>
            <a:pPr lvl="0" indent="-342900" marL="342900">
              <a:buAutoNum type="arabicPeriod"/>
            </a:pPr>
            <a:r>
              <a:rPr/>
              <a:t>Generate vectors containing the numbers 100 to 105 using three different methods (</a:t>
            </a:r>
            <a:r>
              <a:rPr>
                <a:latin typeface="Courier"/>
              </a:rPr>
              <a:t>c()</a:t>
            </a:r>
            <a:r>
              <a:rPr/>
              <a:t>, </a:t>
            </a:r>
            <a:r>
              <a:rPr>
                <a:latin typeface="Courier"/>
              </a:rPr>
              <a:t>seq()</a:t>
            </a:r>
            <a:r>
              <a:rPr/>
              <a:t>, </a:t>
            </a:r>
            <a:r>
              <a:rPr>
                <a:latin typeface="Courier"/>
              </a:rPr>
              <a:t>:</a:t>
            </a:r>
            <a:r>
              <a:rPr/>
              <a:t>). Discuss the convenience of each method.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Generate a vector using c() method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vector_c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Generate a vector using seq() method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vector_seq &lt;-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Generate a vector using : operator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vector_colon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</a:p>
          <a:p>
            <a:pPr lvl="0" indent="-342900" marL="342900">
              <a:buAutoNum startAt="2" type="arabicPeriod"/>
            </a:pPr>
            <a:r>
              <a:rPr/>
              <a:t>Generate a sequence of all even numbers between 0 and 100. Use the </a:t>
            </a:r>
            <a:r>
              <a:rPr>
                <a:latin typeface="Courier"/>
              </a:rPr>
              <a:t>seq()</a:t>
            </a:r>
            <a:r>
              <a:rPr/>
              <a:t> function.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Generate a sequence of all even numbers between 0 and 100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even_seq &lt;-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-342900" marL="342900">
              <a:buAutoNum startAt="3" type="arabicPeriod"/>
            </a:pPr>
            <a:r>
              <a:rPr/>
              <a:t>Create a descending sequence of numbers from 100 to 1, and assign it to a variable. Use the </a:t>
            </a:r>
            <a:r>
              <a:rPr>
                <a:latin typeface="Courier"/>
              </a:rPr>
              <a:t>seq()</a:t>
            </a:r>
            <a:r>
              <a:rPr/>
              <a:t> function.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descending sequence of numbers from 100 to 1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desc_seq &lt;-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Working with </a:t>
            </a:r>
            <a:r>
              <a:rPr b="1">
                <a:latin typeface="Courier"/>
              </a:rPr>
              <a:t>vectors</a:t>
            </a:r>
            <a:r>
              <a:rPr b="1"/>
              <a:t> and </a:t>
            </a:r>
            <a:r>
              <a:rPr b="1">
                <a:latin typeface="Courier"/>
              </a:rPr>
              <a:t>data frames</a:t>
            </a:r>
          </a:p>
          <a:p>
            <a:pPr lvl="0" indent="0" marL="0">
              <a:buNone/>
            </a:pPr>
            <a:r>
              <a:rPr/>
              <a:t>Learning objectives</a:t>
            </a:r>
          </a:p>
          <a:p>
            <a:pPr lvl="0"/>
            <a:r>
              <a:rPr/>
              <a:t>Select elements from </a:t>
            </a:r>
            <a:r>
              <a:rPr>
                <a:latin typeface="Courier"/>
              </a:rPr>
              <a:t>vectors</a:t>
            </a:r>
            <a:r>
              <a:rPr/>
              <a:t> and columns from </a:t>
            </a:r>
            <a:r>
              <a:rPr>
                <a:latin typeface="Courier"/>
              </a:rPr>
              <a:t>data frames</a:t>
            </a:r>
          </a:p>
          <a:p>
            <a:pPr lvl="0"/>
            <a:r>
              <a:rPr/>
              <a:t>Subset </a:t>
            </a:r>
            <a:r>
              <a:rPr>
                <a:latin typeface="Courier"/>
              </a:rPr>
              <a:t>data frames</a:t>
            </a:r>
          </a:p>
          <a:p>
            <a:pPr lvl="0"/>
            <a:r>
              <a:rPr/>
              <a:t>Investigate characteristics of </a:t>
            </a:r>
            <a:r>
              <a:rPr>
                <a:latin typeface="Courier"/>
              </a:rPr>
              <a:t>data frames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Indexing vectors</a:t>
            </a:r>
          </a:p>
          <a:p>
            <a:pPr lvl="0"/>
            <a:r>
              <a:rPr/>
              <a:t>Basic indexing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vec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first_element &lt;- vec[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first_element</a:t>
            </a:r>
          </a:p>
          <a:p>
            <a:pPr lvl="0" indent="0">
              <a:buNone/>
            </a:pPr>
            <a:r>
              <a:rPr>
                <a:latin typeface="Courier"/>
              </a:rPr>
              <a:t>[1] 1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third_element &lt;- vec[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third_element</a:t>
            </a:r>
          </a:p>
          <a:p>
            <a:pPr lvl="0" indent="0">
              <a:buNone/>
            </a:pPr>
            <a:r>
              <a:rPr>
                <a:latin typeface="Courier"/>
              </a:rPr>
              <a:t>[1] 3</a:t>
            </a:r>
          </a:p>
          <a:p>
            <a:pPr lvl="0"/>
            <a:r>
              <a:rPr/>
              <a:t>Conditional indexing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vec &lt;-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vec[vec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latin typeface="Courier"/>
              </a:rPr>
              <a:t>[1] 27 29 31 33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Working with </a:t>
            </a:r>
            <a:r>
              <a:rPr b="1">
                <a:latin typeface="Courier"/>
              </a:rPr>
              <a:t>data frames</a:t>
            </a:r>
          </a:p>
          <a:p>
            <a:pPr lvl="0"/>
            <a:r>
              <a:rPr>
                <a:latin typeface="Courier"/>
              </a:rPr>
              <a:t>Data frames</a:t>
            </a:r>
            <a:r>
              <a:rPr/>
              <a:t> are the most common and versatile data structure in </a:t>
            </a:r>
            <a:r>
              <a:rPr>
                <a:latin typeface="Courier"/>
              </a:rPr>
              <a:t>R</a:t>
            </a:r>
          </a:p>
          <a:p>
            <a:pPr lvl="0"/>
            <a:r>
              <a:rPr/>
              <a:t>Structured as rows (observations) and columns (variables)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test_scores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"Alice"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"Bob"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"Carol"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"Dave"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"Emily"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age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24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gender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"F"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"F"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score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90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knitr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kable</a:t>
            </a:r>
            <a:r>
              <a:rPr>
                <a:solidFill>
                  <a:srgbClr val="003B4F"/>
                </a:solidFill>
                <a:latin typeface="Courier"/>
              </a:rPr>
              <a:t>(test_scores)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score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Bob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Emily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Working with </a:t>
            </a:r>
            <a:r>
              <a:rPr b="1">
                <a:latin typeface="Courier"/>
              </a:rPr>
              <a:t>data frames</a:t>
            </a:r>
          </a:p>
          <a:p>
            <a:pPr lvl="0"/>
            <a:r>
              <a:rPr>
                <a:latin typeface="Courier"/>
              </a:rPr>
              <a:t>head()</a:t>
            </a:r>
            <a:r>
              <a:rPr/>
              <a:t>- looks at top rows of the </a:t>
            </a:r>
            <a:r>
              <a:rPr>
                <a:latin typeface="Courier"/>
              </a:rPr>
              <a:t>data frame</a:t>
            </a:r>
          </a:p>
          <a:p>
            <a:pPr lvl="0"/>
            <a:r>
              <a:rPr>
                <a:latin typeface="Courier"/>
              </a:rPr>
              <a:t>$</a:t>
            </a:r>
            <a:r>
              <a:rPr/>
              <a:t> operator - access a column as a </a:t>
            </a:r>
            <a:r>
              <a:rPr>
                <a:latin typeface="Courier"/>
              </a:rPr>
              <a:t>vector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print first two rows  first row 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(test_scores,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id  name age gender score
1  1 Alice  25      F    90
2  2   Bob  30      M    85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access name column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test_scores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name</a:t>
            </a:r>
          </a:p>
          <a:p>
            <a:pPr lvl="0" indent="0">
              <a:buNone/>
            </a:pPr>
            <a:r>
              <a:rPr>
                <a:latin typeface="Courier"/>
              </a:rPr>
              <a:t>[1] "Alice" "Bob"   "Carol" "Dave"  "Emily"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Subsetting </a:t>
            </a:r>
            <a:r>
              <a:rPr b="1">
                <a:latin typeface="Courier"/>
              </a:rPr>
              <a:t>data frames</a:t>
            </a:r>
          </a:p>
          <a:p>
            <a:pPr lvl="0"/>
            <a:r>
              <a:rPr b="1"/>
              <a:t>Methods</a:t>
            </a:r>
            <a:r>
              <a:rPr/>
              <a:t>:</a:t>
            </a:r>
          </a:p>
          <a:p>
            <a:pPr lvl="1"/>
            <a:r>
              <a:rPr b="1">
                <a:latin typeface="Courier"/>
              </a:rPr>
              <a:t>$</a:t>
            </a:r>
            <a:r>
              <a:rPr/>
              <a:t>: Single column by name.</a:t>
            </a:r>
          </a:p>
          <a:p>
            <a:pPr lvl="1"/>
            <a:r>
              <a:rPr b="1">
                <a:latin typeface="Courier"/>
              </a:rPr>
              <a:t>df[i, j]</a:t>
            </a:r>
            <a:r>
              <a:rPr/>
              <a:t>: Row </a:t>
            </a:r>
            <a:r>
              <a:rPr b="1">
                <a:latin typeface="Courier"/>
              </a:rPr>
              <a:t>i</a:t>
            </a:r>
            <a:r>
              <a:rPr/>
              <a:t> and column </a:t>
            </a:r>
            <a:r>
              <a:rPr b="1">
                <a:latin typeface="Courier"/>
              </a:rPr>
              <a:t>j</a:t>
            </a:r>
            <a:r>
              <a:rPr/>
              <a:t>.</a:t>
            </a:r>
          </a:p>
          <a:p>
            <a:pPr lvl="1"/>
            <a:r>
              <a:rPr b="1">
                <a:latin typeface="Courier"/>
              </a:rPr>
              <a:t>df[i:j, k:l]</a:t>
            </a:r>
            <a:r>
              <a:rPr/>
              <a:t>: Rows </a:t>
            </a:r>
            <a:r>
              <a:rPr b="1">
                <a:latin typeface="Courier"/>
              </a:rPr>
              <a:t>i</a:t>
            </a:r>
            <a:r>
              <a:rPr/>
              <a:t> to </a:t>
            </a:r>
            <a:r>
              <a:rPr b="1">
                <a:latin typeface="Courier"/>
              </a:rPr>
              <a:t>j</a:t>
            </a:r>
            <a:r>
              <a:rPr/>
              <a:t> and columns </a:t>
            </a:r>
            <a:r>
              <a:rPr b="1">
                <a:latin typeface="Courier"/>
              </a:rPr>
              <a:t>k</a:t>
            </a:r>
            <a:r>
              <a:rPr/>
              <a:t> to </a:t>
            </a:r>
            <a:r>
              <a:rPr b="1">
                <a:latin typeface="Courier"/>
              </a:rPr>
              <a:t>l</a:t>
            </a:r>
            <a:r>
              <a:rPr/>
              <a:t>.</a:t>
            </a:r>
          </a:p>
          <a:p>
            <a:pPr lvl="0"/>
            <a:r>
              <a:rPr b="1"/>
              <a:t>Conditional Subsetting</a:t>
            </a:r>
            <a:r>
              <a:rPr/>
              <a:t>: </a:t>
            </a:r>
            <a:r>
              <a:rPr b="1">
                <a:latin typeface="Courier"/>
              </a:rPr>
              <a:t>df[df$age &gt; 25, ]</a:t>
            </a:r>
            <a:r>
              <a:rPr/>
              <a:t>.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all rows, columns 1-3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test_scores[,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latin typeface="Courier"/>
              </a:rPr>
              <a:t>  id  name age
1  1 Alice  25
2  2   Bob  30
3  3 Carol  22
4  4  Dave  28
5  5 Emily  24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all columns, rows 4-5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test_scores[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,]</a:t>
            </a:r>
          </a:p>
          <a:p>
            <a:pPr lvl="0" indent="0">
              <a:buNone/>
            </a:pPr>
            <a:r>
              <a:rPr>
                <a:latin typeface="Courier"/>
              </a:rPr>
              <a:t>  id  name age gender score
4  4  Dave  28      M    92
5  5 Emily  24      F    89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Quiz</a:t>
            </a:r>
          </a:p>
          <a:p>
            <a:pPr lvl="0" indent="0" marL="0">
              <a:buNone/>
            </a:pPr>
            <a:r>
              <a:rPr/>
              <a:t>Which rows and will this return?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test_scores[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,]</a:t>
            </a:r>
          </a:p>
          <a:p>
            <a:pPr lvl="0"/>
            <a:r>
              <a:rPr/>
              <a:t>Which rows and which columns will this return?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test_scores[test_scores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score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90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Answers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test_scores[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,]</a:t>
            </a:r>
          </a:p>
          <a:p>
            <a:pPr lvl="0" indent="0">
              <a:buNone/>
            </a:pPr>
            <a:r>
              <a:rPr>
                <a:latin typeface="Courier"/>
              </a:rPr>
              <a:t>  id  name age gender score
1  1 Alice  25      F    90
2  2   Bob  30      M    85
3  3 Carol  22      F    88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test_scores[test_scores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score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90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</a:p>
          <a:p>
            <a:pPr lvl="0" indent="0">
              <a:buNone/>
            </a:pPr>
            <a:r>
              <a:rPr>
                <a:latin typeface="Courier"/>
              </a:rPr>
              <a:t>  id  name age gender score
1  1 Alice  25      F    90
4  4  Dave  28      M    92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Explore </a:t>
            </a:r>
            <a:r>
              <a:rPr b="1">
                <a:latin typeface="Courier"/>
              </a:rPr>
              <a:t>data frame</a:t>
            </a:r>
            <a:r>
              <a:rPr b="1"/>
              <a:t> characteristics</a:t>
            </a:r>
          </a:p>
          <a:p>
            <a:pPr lvl="0" indent="0" marL="0">
              <a:buNone/>
            </a:pPr>
            <a:r>
              <a:rPr/>
              <a:t>Check number of rows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check number of rows (observations)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(test_scores)</a:t>
            </a:r>
          </a:p>
          <a:p>
            <a:pPr lvl="0" indent="0">
              <a:buNone/>
            </a:pPr>
            <a:r>
              <a:rPr>
                <a:latin typeface="Courier"/>
              </a:rPr>
              <a:t>[1] 5</a:t>
            </a:r>
          </a:p>
          <a:p>
            <a:pPr lvl="0" indent="0" marL="0">
              <a:buNone/>
            </a:pPr>
            <a:r>
              <a:rPr/>
              <a:t>Check number of columns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check number of columns (variables)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ncol</a:t>
            </a:r>
            <a:r>
              <a:rPr>
                <a:solidFill>
                  <a:srgbClr val="003B4F"/>
                </a:solidFill>
                <a:latin typeface="Courier"/>
              </a:rPr>
              <a:t>(test_scores)</a:t>
            </a:r>
          </a:p>
          <a:p>
            <a:pPr lvl="0" indent="0">
              <a:buNone/>
            </a:pPr>
            <a:r>
              <a:rPr>
                <a:latin typeface="Courier"/>
              </a:rPr>
              <a:t>[1] 5</a:t>
            </a:r>
          </a:p>
          <a:p>
            <a:pPr lvl="0" indent="0" marL="0">
              <a:buNone/>
            </a:pPr>
            <a:r>
              <a:rPr/>
              <a:t>Check column names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(test_scores)</a:t>
            </a:r>
          </a:p>
          <a:p>
            <a:pPr lvl="0" indent="0">
              <a:buNone/>
            </a:pPr>
            <a:r>
              <a:rPr>
                <a:latin typeface="Courier"/>
              </a:rPr>
              <a:t>[1] "id"     "name"   "age"    "gender" "score"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Live coding demo</a:t>
            </a:r>
          </a:p>
          <a:p>
            <a:pPr lvl="0"/>
            <a:r>
              <a:rPr/>
              <a:t>Generate random draws from a normal distribution using the </a:t>
            </a:r>
            <a:r>
              <a:rPr>
                <a:latin typeface="Courier"/>
              </a:rPr>
              <a:t>rnorm</a:t>
            </a:r>
            <a:r>
              <a:rPr/>
              <a:t> function</a:t>
            </a:r>
          </a:p>
          <a:p>
            <a:pPr lvl="0"/>
            <a:r>
              <a:rPr/>
              <a:t>Subset the vector of random draws to only include certain observations</a:t>
            </a:r>
          </a:p>
          <a:p>
            <a:pPr lvl="0"/>
            <a:r>
              <a:rPr/>
              <a:t>Look at basic summary statistics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In-class exercise 3</a:t>
            </a:r>
          </a:p>
          <a:p>
            <a:pPr lvl="0" indent="-342900" marL="342900">
              <a:buAutoNum type="arabicPeriod"/>
            </a:pPr>
            <a:r>
              <a:rPr/>
              <a:t>Generate a </a:t>
            </a:r>
            <a:r>
              <a:rPr>
                <a:latin typeface="Courier"/>
              </a:rPr>
              <a:t>vector</a:t>
            </a:r>
            <a:r>
              <a:rPr/>
              <a:t> of 100 observations drawn from a normal distribution with a mean of 10 and a standard deviation of 2. Use the </a:t>
            </a:r>
            <a:r>
              <a:rPr>
                <a:latin typeface="Courier"/>
              </a:rPr>
              <a:t>rnorm</a:t>
            </a:r>
            <a:r>
              <a:rPr/>
              <a:t> function.</a:t>
            </a:r>
          </a:p>
          <a:p>
            <a:pPr lvl="0" indent="-342900" marL="342900">
              <a:buAutoNum type="arabicPeriod"/>
            </a:pPr>
            <a:r>
              <a:rPr/>
              <a:t>What are the 1st, 10th, and 100th elements of this </a:t>
            </a:r>
            <a:r>
              <a:rPr>
                <a:latin typeface="Courier"/>
              </a:rPr>
              <a:t>vector</a:t>
            </a:r>
            <a:r>
              <a:rPr/>
              <a:t>?</a:t>
            </a:r>
          </a:p>
          <a:p>
            <a:pPr lvl="0" indent="-342900" marL="342900">
              <a:buAutoNum type="arabicPeriod"/>
            </a:pPr>
            <a:r>
              <a:rPr/>
              <a:t>Calculate the mean of this </a:t>
            </a:r>
            <a:r>
              <a:rPr>
                <a:latin typeface="Courier"/>
              </a:rPr>
              <a:t>vector</a:t>
            </a:r>
            <a:r>
              <a:rPr/>
              <a:t>. How does this </a:t>
            </a:r>
            <a:r>
              <a:rPr>
                <a:latin typeface="Courier"/>
              </a:rPr>
              <a:t>sample</a:t>
            </a:r>
            <a:r>
              <a:rPr/>
              <a:t> mean relate to the </a:t>
            </a:r>
            <a:r>
              <a:rPr>
                <a:latin typeface="Courier"/>
              </a:rPr>
              <a:t>population</a:t>
            </a:r>
            <a:r>
              <a:rPr/>
              <a:t> mean (hint: population mean = 10) of the distribution?</a:t>
            </a:r>
          </a:p>
          <a:p>
            <a:pPr lvl="0" indent="-342900" marL="342900">
              <a:buAutoNum type="arabicPeriod"/>
            </a:pPr>
            <a:r>
              <a:rPr/>
              <a:t>Calculate the difference between the sample mean and the population mean. Discuss the reason for the discrepancy.</a:t>
            </a:r>
          </a:p>
          <a:p>
            <a:pPr lvl="0" indent="-342900" marL="342900">
              <a:buAutoNum type="arabicPeriod"/>
            </a:pPr>
            <a:r>
              <a:rPr/>
              <a:t>Repeat steps 1-4 with a new sample size of 10,000. Did the difference between the sample mean and the population mean decrease? Why?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3 solutions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Generate a sample of 1,000 draws from a normal distribution with mean = 10 and sd = 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sample_data_100 &lt;-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look at 1st, 10th, and 100th element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sample_data_100[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</a:p>
          <a:p>
            <a:pPr lvl="0" indent="0">
              <a:buNone/>
            </a:pPr>
            <a:r>
              <a:rPr>
                <a:latin typeface="Courier"/>
              </a:rPr>
              <a:t>[1] 9.357484 9.322093 7.125744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the mean of this sample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sample_mean_100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(sample_data_100)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the difference between the mean of the sample and the expected value of the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difference_100 &lt;- </a:t>
            </a:r>
            <a:r>
              <a:rPr>
                <a:solidFill>
                  <a:srgbClr val="4758AB"/>
                </a:solidFill>
                <a:latin typeface="Courier"/>
              </a:rPr>
              <a:t>abs</a:t>
            </a:r>
            <a:r>
              <a:rPr>
                <a:solidFill>
                  <a:srgbClr val="003B4F"/>
                </a:solidFill>
                <a:latin typeface="Courier"/>
              </a:rPr>
              <a:t>(sample_mean_100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difference_100</a:t>
            </a:r>
          </a:p>
          <a:p>
            <a:pPr lvl="0" indent="0">
              <a:buNone/>
            </a:pPr>
            <a:r>
              <a:rPr>
                <a:latin typeface="Courier"/>
              </a:rPr>
              <a:t>[1] 0.1054441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the Z-score for the sample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sample_data_10000 &lt;-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the mean of this sample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sample_data_10000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(sample_data_10000)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the difference between the mean of the sample and the expected value of the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sample_data_10000 &lt;- </a:t>
            </a:r>
            <a:r>
              <a:rPr>
                <a:solidFill>
                  <a:srgbClr val="4758AB"/>
                </a:solidFill>
                <a:latin typeface="Courier"/>
              </a:rPr>
              <a:t>abs</a:t>
            </a:r>
            <a:r>
              <a:rPr>
                <a:solidFill>
                  <a:srgbClr val="003B4F"/>
                </a:solidFill>
                <a:latin typeface="Courier"/>
              </a:rPr>
              <a:t>(sample_data_10000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sample_data_10000</a:t>
            </a:r>
          </a:p>
          <a:p>
            <a:pPr lvl="0" indent="0">
              <a:buNone/>
            </a:pPr>
            <a:r>
              <a:rPr>
                <a:latin typeface="Courier"/>
              </a:rPr>
              <a:t>[1] 0.008479538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lvl="0"/>
            <a:r>
              <a:rPr/>
              <a:t>Thanks for your attendance and participation</a:t>
            </a:r>
          </a:p>
          <a:p>
            <a:pPr lvl="0"/>
            <a:r>
              <a:rPr/>
              <a:t>Please independently complete all exercises in problem set 1 (and review solutions)</a:t>
            </a:r>
          </a:p>
          <a:p>
            <a:pPr lvl="0"/>
            <a:r>
              <a:rPr/>
              <a:t>Questions: </a:t>
            </a:r>
            <a:r>
              <a:rPr>
                <a:hlinkClick r:id="rId2"/>
              </a:rPr>
              <a:t>casey.breen@demography.ox.ac.uk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Session 2</a:t>
            </a:r>
          </a:p>
          <a:p>
            <a:pPr lvl="0"/>
            <a:r>
              <a:rPr b="1"/>
              <a:t>Module 4</a:t>
            </a:r>
            <a:r>
              <a:rPr/>
              <a:t>: Importing and exporting in data</a:t>
            </a:r>
          </a:p>
          <a:p>
            <a:pPr lvl="0"/>
            <a:r>
              <a:rPr b="1"/>
              <a:t>Module 5</a:t>
            </a:r>
            <a:r>
              <a:rPr/>
              <a:t>: Data manipulation (</a:t>
            </a:r>
            <a:r>
              <a:rPr>
                <a:latin typeface="Courier"/>
              </a:rPr>
              <a:t>dplyr</a:t>
            </a:r>
            <a:r>
              <a:rPr/>
              <a:t>) and data visualization (</a:t>
            </a:r>
            <a:r>
              <a:rPr>
                <a:latin typeface="Courier"/>
              </a:rPr>
              <a:t>ggplot2</a:t>
            </a:r>
            <a:r>
              <a:rPr/>
              <a:t>)</a:t>
            </a:r>
          </a:p>
          <a:p>
            <a:pPr lvl="0"/>
            <a:r>
              <a:rPr b="1"/>
              <a:t>Module 6</a:t>
            </a:r>
            <a:r>
              <a:rPr/>
              <a:t>: Best practices for </a:t>
            </a:r>
            <a:r>
              <a:rPr>
                <a:latin typeface="Courier"/>
              </a:rPr>
              <a:t>R</a:t>
            </a:r>
            <a:r>
              <a:rPr/>
              <a:t> coding and resources for self-study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Importing and exporting data</a:t>
            </a:r>
          </a:p>
          <a:p>
            <a:pPr lvl="0" indent="0" marL="0">
              <a:buNone/>
            </a:pPr>
            <a:r>
              <a:rPr/>
              <a:t>Learning objectives</a:t>
            </a:r>
          </a:p>
          <a:p>
            <a:pPr lvl="0"/>
            <a:r>
              <a:rPr/>
              <a:t>Common data formats</a:t>
            </a:r>
          </a:p>
          <a:p>
            <a:pPr lvl="0"/>
            <a:r>
              <a:rPr/>
              <a:t>Functions for importing / exporting data</a:t>
            </a:r>
          </a:p>
          <a:p>
            <a:pPr lvl="0"/>
            <a:r>
              <a:rPr/>
              <a:t>Types of file paths in </a:t>
            </a:r>
            <a:r>
              <a:rPr>
                <a:latin typeface="Courier"/>
              </a:rPr>
              <a:t>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Importing data</a:t>
            </a:r>
          </a:p>
          <a:p>
            <a:pPr lvl="0"/>
            <a:r>
              <a:rPr/>
              <a:t>Common formats for data</a:t>
            </a:r>
          </a:p>
          <a:p>
            <a:pPr lvl="1"/>
            <a:r>
              <a:rPr/>
              <a:t>.csv, .xlsx, .txt, .dat (stata), etc.</a:t>
            </a:r>
          </a:p>
          <a:p>
            <a:pPr lvl="0"/>
            <a:r>
              <a:rPr/>
              <a:t>Key functions</a:t>
            </a:r>
          </a:p>
          <a:p>
            <a:pPr lvl="1"/>
            <a:r>
              <a:rPr>
                <a:latin typeface="Courier"/>
              </a:rPr>
              <a:t>read_csv()</a:t>
            </a:r>
            <a:r>
              <a:rPr/>
              <a:t> function from </a:t>
            </a:r>
            <a:r>
              <a:rPr>
                <a:latin typeface="Courier"/>
              </a:rPr>
              <a:t>tidyverse</a:t>
            </a:r>
            <a:r>
              <a:rPr/>
              <a:t>: Read CSV files</a:t>
            </a:r>
          </a:p>
          <a:p>
            <a:pPr lvl="2"/>
            <a:r>
              <a:rPr/>
              <a:t>Also built-in (“base”) function: </a:t>
            </a:r>
            <a:r>
              <a:rPr>
                <a:latin typeface="Courier"/>
              </a:rPr>
              <a:t>read.csv()</a:t>
            </a:r>
          </a:p>
          <a:p>
            <a:pPr lvl="1"/>
            <a:r>
              <a:rPr>
                <a:latin typeface="Courier"/>
              </a:rPr>
              <a:t>read.table()</a:t>
            </a:r>
            <a:r>
              <a:rPr/>
              <a:t>: Read text files</a:t>
            </a:r>
          </a:p>
          <a:p>
            <a:pPr lvl="1"/>
            <a:r>
              <a:rPr>
                <a:latin typeface="Courier"/>
              </a:rPr>
              <a:t>readxl::read_excel()</a:t>
            </a:r>
            <a:r>
              <a:rPr/>
              <a:t>: Read Excel files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read in CSV file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"/path/to/your/data.csv"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 i="1">
                <a:solidFill>
                  <a:srgbClr val="5E5E5E"/>
                </a:solidFill>
                <a:latin typeface="Courier"/>
              </a:rPr>
              <a:t>## faster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read in stata file 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(haven)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data &lt;- </a:t>
            </a:r>
            <a:r>
              <a:rPr>
                <a:solidFill>
                  <a:srgbClr val="4758AB"/>
                </a:solidFill>
                <a:latin typeface="Courier"/>
              </a:rPr>
              <a:t>read_dta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"path/to/file.dta"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File paths</a:t>
            </a:r>
          </a:p>
          <a:p>
            <a:pPr lvl="0"/>
            <a:r>
              <a:rPr b="1"/>
              <a:t>Absolute Path</a:t>
            </a:r>
            <a:r>
              <a:rPr/>
              <a:t>: Specifies the full path locate a file or directory, starting with the root directory.</a:t>
            </a:r>
          </a:p>
          <a:p>
            <a:pPr lvl="1"/>
            <a:r>
              <a:rPr/>
              <a:t>Windows: </a:t>
            </a:r>
            <a:r>
              <a:rPr>
                <a:latin typeface="Courier"/>
              </a:rPr>
              <a:t>"C:\Users\username\folder\file.csv"</a:t>
            </a:r>
          </a:p>
          <a:p>
            <a:pPr lvl="1"/>
            <a:r>
              <a:rPr/>
              <a:t>macOS/Linux: </a:t>
            </a:r>
            <a:r>
              <a:rPr>
                <a:latin typeface="Courier"/>
              </a:rPr>
              <a:t>"/home/username/folder/file.csv"</a:t>
            </a:r>
          </a:p>
          <a:p>
            <a:pPr lvl="0"/>
            <a:r>
              <a:rPr b="1"/>
              <a:t>Relative Path</a:t>
            </a:r>
            <a:r>
              <a:rPr/>
              <a:t>: Specifies how to find the file or directory based on the current working directory.</a:t>
            </a:r>
          </a:p>
          <a:p>
            <a:pPr lvl="1"/>
            <a:r>
              <a:rPr>
                <a:latin typeface="Courier"/>
              </a:rPr>
              <a:t>folder/file.csv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Working directories</a:t>
            </a:r>
          </a:p>
          <a:p>
            <a:pPr lvl="0"/>
            <a:r>
              <a:rPr/>
              <a:t>The working directory is the folder where your R session or script looks for files to read, or where it saves files you write</a:t>
            </a:r>
          </a:p>
          <a:p>
            <a:pPr lvl="0"/>
            <a:r>
              <a:rPr/>
              <a:t>Commands like </a:t>
            </a:r>
            <a:r>
              <a:rPr b="1">
                <a:latin typeface="Courier"/>
              </a:rPr>
              <a:t>read_csv("file.csv")</a:t>
            </a:r>
            <a:r>
              <a:rPr/>
              <a:t> or </a:t>
            </a:r>
            <a:r>
              <a:rPr b="1">
                <a:latin typeface="Courier"/>
              </a:rPr>
              <a:t>write_csv(data, "file.csv")</a:t>
            </a:r>
            <a:r>
              <a:rPr/>
              <a:t> will read from or write to this directory by default</a:t>
            </a:r>
          </a:p>
          <a:p>
            <a:pPr lvl="0"/>
            <a:r>
              <a:rPr/>
              <a:t>Key syntax:</a:t>
            </a:r>
          </a:p>
          <a:p>
            <a:pPr lvl="1"/>
            <a:r>
              <a:rPr b="1">
                <a:latin typeface="Courier"/>
              </a:rPr>
              <a:t>getwd()</a:t>
            </a:r>
            <a:r>
              <a:rPr/>
              <a:t> — returns working directory</a:t>
            </a:r>
          </a:p>
          <a:p>
            <a:pPr lvl="1"/>
            <a:r>
              <a:rPr b="1">
                <a:latin typeface="Courier"/>
              </a:rPr>
              <a:t>setwd("/path/to/folder")</a:t>
            </a:r>
            <a:r>
              <a:rPr/>
              <a:t> — sets working directory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getwd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[1] "/Users/cb48679/workspace/intro_r/slides_1day"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Reading in .CSV files</a:t>
            </a:r>
          </a:p>
          <a:p>
            <a:pPr lvl="0"/>
            <a:r>
              <a:rPr/>
              <a:t>Recap: to read in .csv files use </a:t>
            </a:r>
            <a:r>
              <a:rPr>
                <a:latin typeface="Courier"/>
              </a:rPr>
              <a:t>read_csv()</a:t>
            </a:r>
            <a:r>
              <a:rPr/>
              <a:t> function from </a:t>
            </a:r>
            <a:r>
              <a:rPr>
                <a:latin typeface="Courier"/>
              </a:rPr>
              <a:t>tidyverse</a:t>
            </a:r>
          </a:p>
          <a:p>
            <a:pPr lvl="1"/>
            <a:r>
              <a:rPr/>
              <a:t>This will read in the .csv file into memory as a </a:t>
            </a:r>
            <a:r>
              <a:rPr>
                <a:latin typeface="Courier"/>
              </a:rPr>
              <a:t>data frame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"dataset.csv"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Write out a </a:t>
            </a:r>
            <a:r>
              <a:rPr>
                <a:latin typeface="Courier"/>
              </a:rPr>
              <a:t>data frame</a:t>
            </a:r>
            <a:r>
              <a:rPr/>
              <a:t> to a .csv file using </a:t>
            </a:r>
            <a:r>
              <a:rPr>
                <a:latin typeface="Courier"/>
              </a:rPr>
              <a:t>write_csv()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write_csv</a:t>
            </a:r>
            <a:r>
              <a:rPr>
                <a:solidFill>
                  <a:srgbClr val="003B4F"/>
                </a:solidFill>
                <a:latin typeface="Courier"/>
              </a:rPr>
              <a:t>(df, </a:t>
            </a:r>
            <a:r>
              <a:rPr>
                <a:solidFill>
                  <a:srgbClr val="20794D"/>
                </a:solidFill>
                <a:latin typeface="Courier"/>
              </a:rPr>
              <a:t>"dataset_v2.csv"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Downloading data for exercises</a:t>
            </a:r>
          </a:p>
          <a:p>
            <a:pPr lvl="0"/>
            <a:r>
              <a:rPr/>
              <a:t>We will be using the CenSoc Numident Demo dataset</a:t>
            </a:r>
          </a:p>
          <a:p>
            <a:pPr lvl="0"/>
            <a:r>
              <a:rPr/>
              <a:t>Please download the .csv file from the course website (</a:t>
            </a:r>
            <a:r>
              <a:rPr>
                <a:latin typeface="Courier"/>
              </a:rPr>
              <a:t>intro_r/data</a:t>
            </a:r>
            <a:r>
              <a:rPr/>
              <a:t>)</a:t>
            </a:r>
          </a:p>
          <a:p>
            <a:pPr lvl="1"/>
            <a:r>
              <a:rPr>
                <a:hlinkClick r:id="rId2"/>
              </a:rPr>
              <a:t>https://github.com/caseybreen/intro_r</a:t>
            </a:r>
          </a:p>
          <a:p>
            <a:pPr lvl="0"/>
            <a:r>
              <a:rPr/>
              <a:t>Short url: </a:t>
            </a:r>
            <a:r>
              <a:rPr>
                <a:hlinkClick r:id="rId3"/>
              </a:rPr>
              <a:t>https://tinyurl.com/intro-r-data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Live coding demo</a:t>
            </a:r>
          </a:p>
          <a:p>
            <a:pPr lvl="0"/>
            <a:r>
              <a:rPr/>
              <a:t>Downloading demo file from Github</a:t>
            </a:r>
          </a:p>
          <a:p>
            <a:pPr lvl="0"/>
            <a:r>
              <a:rPr/>
              <a:t>Reading in a .csv file in </a:t>
            </a:r>
            <a:r>
              <a:rPr>
                <a:latin typeface="Courier"/>
              </a:rPr>
              <a:t>R</a:t>
            </a:r>
            <a:r>
              <a:rPr/>
              <a:t> using </a:t>
            </a:r>
            <a:r>
              <a:rPr>
                <a:latin typeface="Courier"/>
              </a:rPr>
              <a:t>read_csv()</a:t>
            </a:r>
          </a:p>
          <a:p>
            <a:pPr lvl="1"/>
            <a:r>
              <a:rPr/>
              <a:t>Absolute and relative paths</a:t>
            </a:r>
          </a:p>
          <a:p>
            <a:pPr lvl="0"/>
            <a:r>
              <a:rPr/>
              <a:t>Using </a:t>
            </a:r>
            <a:r>
              <a:rPr>
                <a:latin typeface="Courier"/>
              </a:rPr>
              <a:t>tab</a:t>
            </a:r>
            <a:r>
              <a:rPr/>
              <a:t> to auto-complete file paths</a:t>
            </a:r>
          </a:p>
          <a:p>
            <a:pPr lvl="0"/>
            <a:r>
              <a:rPr/>
              <a:t>Exploring a </a:t>
            </a:r>
            <a:r>
              <a:rPr>
                <a:latin typeface="Courier"/>
              </a:rPr>
              <a:t>data frame</a:t>
            </a:r>
            <a:r>
              <a:rPr/>
              <a:t>: number of columns, rows, column names, etc.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In-class exercise 1</a:t>
            </a:r>
          </a:p>
          <a:p>
            <a:pPr lvl="0" indent="-342900" marL="342900">
              <a:buAutoNum type="arabicPeriod"/>
            </a:pPr>
            <a:r>
              <a:rPr/>
              <a:t>Load and install the </a:t>
            </a:r>
            <a:r>
              <a:rPr>
                <a:latin typeface="Courier"/>
              </a:rPr>
              <a:t>tidyverse</a:t>
            </a:r>
            <a:r>
              <a:rPr/>
              <a:t> packages using the commands </a:t>
            </a:r>
            <a:r>
              <a:rPr>
                <a:latin typeface="Courier"/>
              </a:rPr>
              <a:t>install.packages()</a:t>
            </a:r>
            <a:r>
              <a:rPr/>
              <a:t> and </a:t>
            </a:r>
            <a:r>
              <a:rPr>
                <a:latin typeface="Courier"/>
              </a:rPr>
              <a:t>library()</a:t>
            </a:r>
          </a:p>
          <a:p>
            <a:pPr lvl="0" indent="-342900" marL="342900">
              <a:buAutoNum type="arabicPeriod"/>
            </a:pPr>
            <a:r>
              <a:rPr/>
              <a:t>Use the </a:t>
            </a:r>
            <a:r>
              <a:rPr>
                <a:latin typeface="Courier"/>
              </a:rPr>
              <a:t>read_csv()</a:t>
            </a:r>
            <a:r>
              <a:rPr/>
              <a:t> function to read in the downloaded dataset and assign it to the object </a:t>
            </a:r>
            <a:r>
              <a:rPr>
                <a:latin typeface="Courier"/>
              </a:rPr>
              <a:t>censoc</a:t>
            </a:r>
          </a:p>
          <a:p>
            <a:pPr lvl="0" indent="-342900" marL="342900">
              <a:buAutoNum type="arabicPeriod"/>
            </a:pPr>
            <a:r>
              <a:rPr/>
              <a:t>Use the </a:t>
            </a:r>
            <a:r>
              <a:rPr>
                <a:latin typeface="Courier"/>
              </a:rPr>
              <a:t>head</a:t>
            </a:r>
            <a:r>
              <a:rPr/>
              <a:t> command to look at the first 5 rows</a:t>
            </a:r>
          </a:p>
          <a:p>
            <a:pPr lvl="0" indent="-342900" marL="342900">
              <a:buAutoNum type="arabicPeriod"/>
            </a:pPr>
            <a:r>
              <a:rPr/>
              <a:t>How many columns are in the dataset?</a:t>
            </a:r>
          </a:p>
          <a:p>
            <a:pPr lvl="0" indent="-342900" marL="342900">
              <a:buAutoNum type="arabicPeriod"/>
            </a:pPr>
            <a:r>
              <a:rPr/>
              <a:t>How many rows are in the dataset?</a:t>
            </a:r>
          </a:p>
          <a:p>
            <a:pPr lvl="0" indent="-342900" marL="342900">
              <a:buAutoNum type="arabicPeriod"/>
            </a:pPr>
            <a:r>
              <a:rPr/>
              <a:t>List the column names. What are a few research questions that could be addressed using this dataset?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1 solutions</a:t>
            </a:r>
          </a:p>
          <a:p>
            <a:pPr lvl="0" indent="-342900" marL="342900">
              <a:buAutoNum type="arabicPeriod"/>
            </a:pPr>
            <a:r>
              <a:rPr/>
              <a:t>Load and install the </a:t>
            </a:r>
            <a:r>
              <a:rPr>
                <a:latin typeface="Courier"/>
              </a:rPr>
              <a:t>tidyverse</a:t>
            </a:r>
            <a:r>
              <a:rPr/>
              <a:t> packages using the commands </a:t>
            </a:r>
            <a:r>
              <a:rPr>
                <a:latin typeface="Courier"/>
              </a:rPr>
              <a:t>install.packages()</a:t>
            </a:r>
            <a:r>
              <a:rPr/>
              <a:t> and </a:t>
            </a:r>
            <a:r>
              <a:rPr>
                <a:latin typeface="Courier"/>
              </a:rPr>
              <a:t>library()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 i="1">
                <a:solidFill>
                  <a:srgbClr val="5E5E5E"/>
                </a:solidFill>
                <a:latin typeface="Courier"/>
              </a:rPr>
              <a:t>## only have to do this once 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</a:p>
          <a:p>
            <a:pPr lvl="0" indent="-342900" marL="342900">
              <a:buAutoNum startAt="2" type="arabicPeriod"/>
            </a:pPr>
            <a:r>
              <a:rPr/>
              <a:t>Use the </a:t>
            </a:r>
            <a:r>
              <a:rPr>
                <a:latin typeface="Courier"/>
              </a:rPr>
              <a:t>read_csv()</a:t>
            </a:r>
            <a:r>
              <a:rPr/>
              <a:t> function to read in the dataset and assign it to the object </a:t>
            </a:r>
            <a:r>
              <a:rPr>
                <a:latin typeface="Courier"/>
              </a:rPr>
              <a:t>censoc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censoc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"censoc_numident_demo_v2.1.csv"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-342900" marL="342900">
              <a:buAutoNum startAt="3" type="arabicPeriod"/>
            </a:pPr>
            <a:r>
              <a:rPr/>
              <a:t>Use the </a:t>
            </a:r>
            <a:r>
              <a:rPr>
                <a:latin typeface="Courier"/>
              </a:rPr>
              <a:t>head()</a:t>
            </a:r>
            <a:r>
              <a:rPr/>
              <a:t> command to look at the first 5 rows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(censoc)</a:t>
            </a:r>
          </a:p>
          <a:p>
            <a:pPr lvl="0" indent="-342900" marL="342900">
              <a:buAutoNum startAt="4" type="arabicPeriod"/>
            </a:pPr>
            <a:r>
              <a:rPr/>
              <a:t>How many columns are in the dataset?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ncol</a:t>
            </a:r>
            <a:r>
              <a:rPr>
                <a:solidFill>
                  <a:srgbClr val="003B4F"/>
                </a:solidFill>
                <a:latin typeface="Courier"/>
              </a:rPr>
              <a:t>(censoc)</a:t>
            </a:r>
          </a:p>
          <a:p>
            <a:pPr lvl="0" indent="0">
              <a:buNone/>
            </a:pPr>
            <a:r>
              <a:rPr>
                <a:latin typeface="Courier"/>
              </a:rPr>
              <a:t>[1] 39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1 solutions (cont.)</a:t>
            </a:r>
          </a:p>
          <a:p>
            <a:pPr lvl="0" indent="-342900" marL="342900">
              <a:buAutoNum startAt="5" type="arabicPeriod"/>
            </a:pPr>
            <a:r>
              <a:rPr/>
              <a:t>How many rows are in the dataset?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(censoc)</a:t>
            </a:r>
          </a:p>
          <a:p>
            <a:pPr lvl="0" indent="0">
              <a:buNone/>
            </a:pPr>
            <a:r>
              <a:rPr>
                <a:latin typeface="Courier"/>
              </a:rPr>
              <a:t>[1] 85865</a:t>
            </a:r>
          </a:p>
          <a:p>
            <a:pPr lvl="0" indent="-342900" marL="342900">
              <a:buAutoNum startAt="6" type="arabicPeriod"/>
            </a:pPr>
            <a:r>
              <a:rPr/>
              <a:t>List the column names.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colnames &lt;- </a:t>
            </a: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(censoc)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(colnames)</a:t>
            </a:r>
          </a:p>
          <a:p>
            <a:pPr lvl="0" indent="0">
              <a:buNone/>
            </a:pPr>
            <a:r>
              <a:rPr>
                <a:latin typeface="Courier"/>
              </a:rPr>
              <a:t>[1] "histid"    "byear"     "bmonth"    "dyear"     "dmonth"    "death_age"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manipulation and visualization</a:t>
            </a:r>
          </a:p>
          <a:p>
            <a:pPr lvl="0" indent="0" marL="0">
              <a:buNone/>
            </a:pPr>
            <a:r>
              <a:rPr/>
              <a:t>Learning objectives</a:t>
            </a:r>
          </a:p>
          <a:p>
            <a:pPr lvl="0"/>
            <a:r>
              <a:rPr/>
              <a:t>Overview of </a:t>
            </a:r>
            <a:r>
              <a:rPr>
                <a:latin typeface="Courier"/>
              </a:rPr>
              <a:t>tidyverse</a:t>
            </a:r>
            <a:r>
              <a:rPr/>
              <a:t> suite of packages</a:t>
            </a:r>
          </a:p>
          <a:p>
            <a:pPr lvl="0"/>
            <a:r>
              <a:rPr/>
              <a:t>Fundamentals of data manipulation with </a:t>
            </a:r>
            <a:r>
              <a:rPr>
                <a:latin typeface="Courier"/>
              </a:rPr>
              <a:t>dplyr</a:t>
            </a:r>
          </a:p>
          <a:p>
            <a:pPr lvl="0"/>
            <a:r>
              <a:rPr/>
              <a:t>Data visualization with </a:t>
            </a:r>
            <a:r>
              <a:rPr>
                <a:latin typeface="Courier"/>
              </a:rPr>
              <a:t>ggplot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Tidyverse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Packages: Collection of R packages designed for data science.</a:t>
            </a:r>
          </a:p>
          <a:p>
            <a:pPr lvl="0"/>
            <a:r>
              <a:rPr/>
              <a:t>Data manipulation: Simplifies data cleaning and transformation with </a:t>
            </a:r>
            <a:r>
              <a:rPr>
                <a:latin typeface="Courier"/>
              </a:rPr>
              <a:t>dplyr</a:t>
            </a:r>
            <a:r>
              <a:rPr/>
              <a:t>.</a:t>
            </a:r>
          </a:p>
          <a:p>
            <a:pPr lvl="0"/>
            <a:r>
              <a:rPr/>
              <a:t>Data Visualization: Enables advanced plotting with </a:t>
            </a:r>
            <a:r>
              <a:rPr>
                <a:latin typeface="Courier"/>
              </a:rPr>
              <a:t>ggplot2</a:t>
            </a:r>
            <a:r>
              <a:rPr/>
              <a:t>.</a:t>
            </a:r>
          </a:p>
        </p:txBody>
      </p:sp>
      <p:pic>
        <p:nvPicPr>
          <p:cNvPr descr="../slides/session2_slides_files/figs/tidyverse_fi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517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Manipulation using </a:t>
            </a:r>
            <a:r>
              <a:rPr b="1">
                <a:latin typeface="Courier"/>
              </a:rPr>
              <a:t>dplyr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filter</a:t>
            </a:r>
            <a:r>
              <a:rPr/>
              <a:t>: Select rows based on conditions.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filtered_df &lt;-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(df, age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select</a:t>
            </a:r>
            <a:r>
              <a:rPr/>
              <a:t>: Choose specific columns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filtered_df &lt;-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(df)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mutate</a:t>
            </a:r>
            <a:r>
              <a:rPr/>
              <a:t>: Add or modify columns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df &lt;-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(df, </a:t>
            </a:r>
            <a:r>
              <a:rPr>
                <a:solidFill>
                  <a:srgbClr val="657422"/>
                </a:solidFill>
                <a:latin typeface="Courier"/>
              </a:rPr>
              <a:t>age_next_year =</a:t>
            </a:r>
            <a:r>
              <a:rPr>
                <a:solidFill>
                  <a:srgbClr val="003B4F"/>
                </a:solidFill>
                <a:latin typeface="Courier"/>
              </a:rPr>
              <a:t> age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summarize</a:t>
            </a:r>
            <a:r>
              <a:rPr/>
              <a:t> or </a:t>
            </a:r>
            <a:r>
              <a:rPr>
                <a:latin typeface="Courier"/>
              </a:rPr>
              <a:t>summarise</a:t>
            </a:r>
            <a:r>
              <a:rPr/>
              <a:t>: Aggregate or summarize data based on some criteria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filtered_df &lt;-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(df,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(age))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group_by</a:t>
            </a:r>
            <a:r>
              <a:rPr/>
              <a:t>: Group data by variables. Often used with </a:t>
            </a:r>
            <a:r>
              <a:rPr>
                <a:latin typeface="Courier"/>
              </a:rPr>
              <a:t>summarise()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filtered_df &lt;- 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(gender)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(age))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Pipe Operator </a:t>
            </a:r>
            <a:r>
              <a:rPr b="1">
                <a:latin typeface="Courier"/>
              </a:rPr>
              <a:t>%&gt;%</a:t>
            </a:r>
            <a:r>
              <a:rPr b="1"/>
              <a:t> (or </a:t>
            </a:r>
            <a:r>
              <a:rPr b="1">
                <a:latin typeface="Courier"/>
              </a:rPr>
              <a:t>|&gt;</a:t>
            </a:r>
            <a:r>
              <a:rPr b="1"/>
              <a:t> ) in R</a:t>
            </a:r>
          </a:p>
          <a:p>
            <a:pPr lvl="0"/>
            <a:r>
              <a:rPr/>
              <a:t>Takes the output of one function and passes it as the first argument to another function</a:t>
            </a:r>
          </a:p>
          <a:p>
            <a:pPr lvl="1"/>
            <a:r>
              <a:rPr/>
              <a:t>“And then do…”</a:t>
            </a:r>
          </a:p>
          <a:p>
            <a:pPr lvl="0"/>
            <a:r>
              <a:rPr/>
              <a:t>What’s the below code doing?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filtered_df &lt;- 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(gender)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(age))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Recoding values in 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Sometime you want to recode a variable to take different values (e.g., recoding exact income to binary high/low income variable)</a:t>
            </a:r>
          </a:p>
          <a:p>
            <a:pPr lvl="0"/>
            <a:r>
              <a:rPr/>
              <a:t>The </a:t>
            </a:r>
            <a:r>
              <a:rPr>
                <a:latin typeface="Courier"/>
              </a:rPr>
              <a:t>case_when()</a:t>
            </a:r>
            <a:r>
              <a:rPr/>
              <a:t> function in </a:t>
            </a:r>
            <a:r>
              <a:rPr>
                <a:latin typeface="Courier"/>
              </a:rPr>
              <a:t>R</a:t>
            </a:r>
            <a:r>
              <a:rPr/>
              <a:t> is part of the </a:t>
            </a:r>
            <a:r>
              <a:rPr>
                <a:latin typeface="Courier"/>
              </a:rPr>
              <a:t>dplyr</a:t>
            </a:r>
            <a:r>
              <a:rPr/>
              <a:t> package and is used for creating new variables based on multiple conditions: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df_new &lt;- 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new_var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condition1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value1,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condition2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value2,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value_otherwise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Live coding demo</a:t>
            </a:r>
          </a:p>
          <a:p>
            <a:pPr lvl="0"/>
            <a:r>
              <a:rPr/>
              <a:t>Filter data</a:t>
            </a:r>
          </a:p>
          <a:p>
            <a:pPr lvl="0"/>
            <a:r>
              <a:rPr/>
              <a:t>Selecting data</a:t>
            </a:r>
          </a:p>
          <a:p>
            <a:pPr lvl="0"/>
            <a:r>
              <a:rPr/>
              <a:t>Calculating summary statistics by group</a:t>
            </a:r>
          </a:p>
          <a:p>
            <a:pPr lvl="0"/>
            <a:r>
              <a:rPr/>
              <a:t>Creating and recoding variables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In-class exercise 2</a:t>
            </a:r>
          </a:p>
          <a:p>
            <a:pPr lvl="0" indent="-342900" marL="342900">
              <a:buAutoNum type="arabicPeriod"/>
            </a:pPr>
            <a:r>
              <a:rPr/>
              <a:t>Filter the </a:t>
            </a:r>
            <a:r>
              <a:rPr>
                <a:latin typeface="Courier"/>
              </a:rPr>
              <a:t>censoc</a:t>
            </a:r>
            <a:r>
              <a:rPr/>
              <a:t> data.frame to include only women (</a:t>
            </a:r>
            <a:r>
              <a:rPr>
                <a:latin typeface="Courier"/>
              </a:rPr>
              <a:t>sex == 2</a:t>
            </a:r>
            <a:r>
              <a:rPr/>
              <a:t>). Use the </a:t>
            </a:r>
            <a:r>
              <a:rPr>
                <a:latin typeface="Courier"/>
              </a:rPr>
              <a:t>filter</a:t>
            </a:r>
            <a:r>
              <a:rPr/>
              <a:t> command.</a:t>
            </a:r>
          </a:p>
          <a:p>
            <a:pPr lvl="0" indent="-342900" marL="342900">
              <a:buAutoNum type="arabicPeriod"/>
            </a:pPr>
            <a:r>
              <a:rPr/>
              <a:t>Filter the </a:t>
            </a:r>
            <a:r>
              <a:rPr>
                <a:latin typeface="Courier"/>
              </a:rPr>
              <a:t>censoc</a:t>
            </a:r>
            <a:r>
              <a:rPr/>
              <a:t> data.frame to include only people born between 1905 and 1920 using the </a:t>
            </a:r>
            <a:r>
              <a:rPr>
                <a:latin typeface="Courier"/>
              </a:rPr>
              <a:t>byear</a:t>
            </a:r>
            <a:r>
              <a:rPr/>
              <a:t> variable.</a:t>
            </a:r>
          </a:p>
          <a:p>
            <a:pPr lvl="0" indent="-342900" marL="342900">
              <a:buAutoNum type="arabicPeriod"/>
            </a:pPr>
            <a:r>
              <a:rPr/>
              <a:t>Select the columns </a:t>
            </a:r>
            <a:r>
              <a:rPr>
                <a:latin typeface="Courier"/>
              </a:rPr>
              <a:t>histid</a:t>
            </a:r>
            <a:r>
              <a:rPr/>
              <a:t>, </a:t>
            </a:r>
            <a:r>
              <a:rPr>
                <a:latin typeface="Courier"/>
              </a:rPr>
              <a:t>death_age</a:t>
            </a:r>
            <a:r>
              <a:rPr/>
              <a:t>, </a:t>
            </a:r>
            <a:r>
              <a:rPr>
                <a:latin typeface="Courier"/>
              </a:rPr>
              <a:t>sex</a:t>
            </a:r>
            <a:r>
              <a:rPr/>
              <a:t>, and </a:t>
            </a:r>
            <a:r>
              <a:rPr>
                <a:latin typeface="Courier"/>
              </a:rPr>
              <a:t>ownershp</a:t>
            </a:r>
          </a:p>
          <a:p>
            <a:pPr lvl="0" indent="-342900" marL="342900">
              <a:buAutoNum type="arabicPeriod"/>
            </a:pPr>
            <a:r>
              <a:rPr/>
              <a:t>Calculate the average age of death for women (hint: refer to question 1)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2 solutions</a:t>
            </a:r>
          </a:p>
          <a:p>
            <a:pPr lvl="0" indent="-342900" marL="342900">
              <a:buAutoNum type="arabicPeriod"/>
            </a:pPr>
            <a:r>
              <a:rPr/>
              <a:t>Filter the </a:t>
            </a:r>
            <a:r>
              <a:rPr>
                <a:latin typeface="Courier"/>
              </a:rPr>
              <a:t>censoc</a:t>
            </a:r>
            <a:r>
              <a:rPr/>
              <a:t> data.frame to include only women (sex == 2). Use the </a:t>
            </a:r>
            <a:r>
              <a:rPr>
                <a:latin typeface="Courier"/>
              </a:rPr>
              <a:t>filter</a:t>
            </a:r>
            <a:r>
              <a:rPr/>
              <a:t> command.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filter to only include women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censoc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(sex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-342900" marL="342900">
              <a:buAutoNum startAt="2" type="arabicPeriod"/>
            </a:pPr>
            <a:r>
              <a:rPr/>
              <a:t>Filter the </a:t>
            </a:r>
            <a:r>
              <a:rPr>
                <a:latin typeface="Courier"/>
              </a:rPr>
              <a:t>censoc</a:t>
            </a:r>
            <a:r>
              <a:rPr/>
              <a:t> data.frame to include only people born between 1905 and 1920 using the </a:t>
            </a:r>
            <a:r>
              <a:rPr>
                <a:latin typeface="Courier"/>
              </a:rPr>
              <a:t>byear</a:t>
            </a:r>
            <a:r>
              <a:rPr/>
              <a:t> variable.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method 1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censoc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(byear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1905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1920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method 2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censoc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(byear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1905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byear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2 solutions (cont.)</a:t>
            </a:r>
          </a:p>
          <a:p>
            <a:pPr lvl="0" indent="-342900" marL="342900">
              <a:buAutoNum startAt="3" type="arabicPeriod"/>
            </a:pPr>
            <a:r>
              <a:rPr/>
              <a:t>Select the columns </a:t>
            </a:r>
            <a:r>
              <a:rPr>
                <a:latin typeface="Courier"/>
              </a:rPr>
              <a:t>histid</a:t>
            </a:r>
            <a:r>
              <a:rPr/>
              <a:t>, </a:t>
            </a:r>
            <a:r>
              <a:rPr>
                <a:latin typeface="Courier"/>
              </a:rPr>
              <a:t>death_age</a:t>
            </a:r>
            <a:r>
              <a:rPr/>
              <a:t>, </a:t>
            </a:r>
            <a:r>
              <a:rPr>
                <a:latin typeface="Courier"/>
              </a:rPr>
              <a:t>sex</a:t>
            </a:r>
            <a:r>
              <a:rPr/>
              <a:t>, and </a:t>
            </a:r>
            <a:r>
              <a:rPr>
                <a:latin typeface="Courier"/>
              </a:rPr>
              <a:t>ownershp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censoc_select &lt;- censoc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(histid, death_age, sex, ownershp) 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(censoc_select)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histid                               death_age   sex ownershp
  &lt;chr&gt;                                    &lt;dbl&gt; &lt;dbl&gt;    &lt;dbl&gt;
1 235C4FA2-B407-4E61-A31D-DBF299C1C120        85     1        1
2 0DE161A7-34A7-47EA-B053-EA8549172CCC        77     1        1
3 EFF79CEC-DA83-482A-AB9A-FFCAC3C9A6A5        77     1        1
4 B51D01FA-54A4-4E5E-8BCF-B6D9521A2983        73     2        2
5 D545AEB1-C5C3-4E32-BB22-4BF58CF50311        73     1        2
6 A71A537B-C440-4E85-A276-334B05B723A7        82     2        1</a:t>
            </a:r>
          </a:p>
          <a:p>
            <a:pPr lvl="0" indent="-342900" marL="342900">
              <a:buAutoNum startAt="4" type="arabicPeriod"/>
            </a:pPr>
            <a:r>
              <a:rPr/>
              <a:t>Calculate the average age of death for women (hint: refer to question 1)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censoc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(sex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mean_death_age_women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(death_age))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1
  mean_death_age_women
                 &lt;dbl&gt;
1                 78.2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visualization using ggplot</a:t>
            </a:r>
          </a:p>
          <a:p>
            <a:pPr lvl="0"/>
            <a:r>
              <a:rPr>
                <a:latin typeface="Courier"/>
              </a:rPr>
              <a:t>ggplot2</a:t>
            </a:r>
            <a:r>
              <a:rPr/>
              <a:t> provides a powerful and flexible system for creating a variety of data visualizations</a:t>
            </a:r>
          </a:p>
          <a:p>
            <a:pPr lvl="0"/>
            <a:r>
              <a:rPr>
                <a:latin typeface="Courier"/>
              </a:rPr>
              <a:t>data</a:t>
            </a:r>
            <a:r>
              <a:rPr/>
              <a:t>: specifies the dataset to be used for the plot</a:t>
            </a:r>
          </a:p>
          <a:p>
            <a:pPr lvl="0"/>
            <a:r>
              <a:rPr>
                <a:latin typeface="Courier"/>
              </a:rPr>
              <a:t>aes</a:t>
            </a:r>
            <a:r>
              <a:rPr/>
              <a:t>: Defines what data to show</a:t>
            </a:r>
          </a:p>
          <a:p>
            <a:pPr lvl="0"/>
            <a:r>
              <a:rPr>
                <a:latin typeface="Courier"/>
              </a:rPr>
              <a:t>geoms</a:t>
            </a:r>
            <a:r>
              <a:rPr/>
              <a:t>: Chooses the type of plot (e.g., histogram)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DATA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GEOM_FUNCTION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MAPPINGS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Types of plots</a:t>
            </a:r>
          </a:p>
          <a:p>
            <a:pPr lvl="0"/>
            <a:r>
              <a:rPr>
                <a:latin typeface="Courier"/>
              </a:rPr>
              <a:t>geom_point()</a:t>
            </a:r>
            <a:r>
              <a:rPr/>
              <a:t>: Scatter plot</a:t>
            </a:r>
          </a:p>
          <a:p>
            <a:pPr lvl="0"/>
            <a:r>
              <a:rPr>
                <a:latin typeface="Courier"/>
              </a:rPr>
              <a:t>geom_bar()</a:t>
            </a:r>
            <a:r>
              <a:rPr/>
              <a:t>: Bar chart</a:t>
            </a:r>
          </a:p>
          <a:p>
            <a:pPr lvl="0"/>
            <a:r>
              <a:rPr>
                <a:latin typeface="Courier"/>
              </a:rPr>
              <a:t>geom_histogram()</a:t>
            </a:r>
            <a:r>
              <a:rPr/>
              <a:t>: Histogram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Basic histogram example</a:t>
            </a:r>
          </a:p>
          <a:p>
            <a:pPr lvl="0"/>
            <a:r>
              <a:rPr/>
              <a:t>Histogram of age of death in censoc dataset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censoc)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death_age)) </a:t>
            </a:r>
          </a:p>
        </p:txBody>
      </p:sp>
      <p:pic>
        <p:nvPicPr>
          <p:cNvPr descr="full_session_files/figure-pptx/unnamed-chunk-7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Customisable – specify theme</a:t>
            </a:r>
          </a:p>
          <a:p>
            <a:pPr lvl="0"/>
            <a:r>
              <a:rPr>
                <a:latin typeface="Courier"/>
              </a:rPr>
              <a:t>+ theme(&lt;theme_choice&gt;)</a:t>
            </a:r>
            <a:r>
              <a:rPr/>
              <a:t> will add on a theme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censoc)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death_age))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full_session_files/figure-pptx/unnamed-chunk-7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Customisable – specify colors</a:t>
            </a:r>
          </a:p>
          <a:p>
            <a:pPr lvl="0"/>
            <a:r>
              <a:rPr>
                <a:latin typeface="Courier"/>
              </a:rPr>
              <a:t>color</a:t>
            </a:r>
            <a:r>
              <a:rPr/>
              <a:t> and </a:t>
            </a:r>
            <a:r>
              <a:rPr>
                <a:latin typeface="Courier"/>
              </a:rPr>
              <a:t>fill</a:t>
            </a:r>
            <a:r>
              <a:rPr/>
              <a:t> will can change color / fill of plot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censoc)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death_age),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full_session_files/figure-pptx/unnamed-chunk-7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Customisable – add on labels/title</a:t>
            </a:r>
          </a:p>
          <a:p>
            <a:pPr lvl="0"/>
            <a:r>
              <a:rPr>
                <a:latin typeface="Courier"/>
              </a:rPr>
              <a:t>+ labs()</a:t>
            </a:r>
            <a:r>
              <a:rPr/>
              <a:t> add on title/axis labels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censoc)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death_age),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"Distribution of age of death"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"Age of Death (yrs)"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full_session_files/figure-pptx/unnamed-chunk-7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Live coding demo</a:t>
            </a:r>
          </a:p>
          <a:p>
            <a:pPr lvl="0"/>
            <a:r>
              <a:rPr/>
              <a:t>Create histogram using </a:t>
            </a:r>
            <a:r>
              <a:rPr>
                <a:latin typeface="Courier"/>
              </a:rPr>
              <a:t>ggplot</a:t>
            </a:r>
          </a:p>
          <a:p>
            <a:pPr lvl="0"/>
            <a:r>
              <a:rPr/>
              <a:t>Demonstrate flexibility of </a:t>
            </a:r>
            <a:r>
              <a:rPr>
                <a:latin typeface="Courier"/>
              </a:rPr>
              <a:t>ggplot</a:t>
            </a:r>
          </a:p>
          <a:p>
            <a:pPr lvl="1"/>
            <a:r>
              <a:rPr/>
              <a:t>Themes</a:t>
            </a:r>
          </a:p>
          <a:p>
            <a:pPr lvl="1"/>
            <a:r>
              <a:rPr/>
              <a:t>Axis labels, titles</a:t>
            </a:r>
          </a:p>
          <a:p>
            <a:pPr lvl="1"/>
            <a:r>
              <a:rPr/>
              <a:t>Colors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In-class exercise 3</a:t>
            </a:r>
          </a:p>
          <a:p>
            <a:pPr lvl="0" indent="-342900" marL="342900">
              <a:buAutoNum type="arabicPeriod"/>
            </a:pPr>
            <a:r>
              <a:rPr/>
              <a:t>Make a histogram of the variable </a:t>
            </a:r>
            <a:r>
              <a:rPr>
                <a:latin typeface="Courier"/>
              </a:rPr>
              <a:t>death_age</a:t>
            </a:r>
            <a:r>
              <a:rPr/>
              <a:t>. When are most people dying?</a:t>
            </a:r>
          </a:p>
          <a:p>
            <a:pPr lvl="0" indent="-342900" marL="342900">
              <a:buAutoNum type="arabicPeriod"/>
            </a:pPr>
            <a:r>
              <a:rPr/>
              <a:t>Make a histogram of the variable </a:t>
            </a:r>
            <a:r>
              <a:rPr>
                <a:latin typeface="Courier"/>
              </a:rPr>
              <a:t>byear</a:t>
            </a:r>
            <a:r>
              <a:rPr/>
              <a:t>. When are most people born?</a:t>
            </a:r>
          </a:p>
          <a:p>
            <a:pPr lvl="0" indent="-342900" marL="342900">
              <a:buAutoNum type="arabicPeriod"/>
            </a:pPr>
            <a:r>
              <a:rPr/>
              <a:t>Recode the variable </a:t>
            </a:r>
            <a:r>
              <a:rPr>
                <a:latin typeface="Courier"/>
              </a:rPr>
              <a:t>sex</a:t>
            </a:r>
            <a:r>
              <a:rPr/>
              <a:t> from numeric values (1, 2) to take character values (“men” and “women”). Note that 1 = men, 2 = women.</a:t>
            </a:r>
          </a:p>
          <a:p>
            <a:pPr lvl="0" indent="-342900" marL="342900">
              <a:buAutoNum type="arabicPeriod"/>
            </a:pPr>
            <a:r>
              <a:rPr/>
              <a:t>Calculate the mean of of death for both men and women using </a:t>
            </a:r>
            <a:r>
              <a:rPr>
                <a:latin typeface="Courier"/>
              </a:rPr>
              <a:t>group_by()</a:t>
            </a:r>
            <a:r>
              <a:rPr/>
              <a:t> and </a:t>
            </a:r>
            <a:r>
              <a:rPr>
                <a:latin typeface="Courier"/>
              </a:rPr>
              <a:t>summarize()</a:t>
            </a:r>
            <a:r>
              <a:rPr/>
              <a:t>. Use the </a:t>
            </a:r>
            <a:r>
              <a:rPr>
                <a:latin typeface="Courier"/>
              </a:rPr>
              <a:t>death_age</a:t>
            </a:r>
            <a:r>
              <a:rPr/>
              <a:t> variable. Do men or women live longer in this sample?</a:t>
            </a:r>
          </a:p>
          <a:p>
            <a:pPr lvl="0" indent="-342900" marL="342900">
              <a:buAutoNum type="arabicPeriod"/>
            </a:pPr>
            <a:r>
              <a:rPr/>
              <a:t>Make a histogram of the variable </a:t>
            </a:r>
            <a:r>
              <a:rPr>
                <a:latin typeface="Courier"/>
              </a:rPr>
              <a:t>death_age</a:t>
            </a:r>
            <a:r>
              <a:rPr/>
              <a:t> for both men and women. Use the </a:t>
            </a:r>
            <a:r>
              <a:rPr>
                <a:latin typeface="Courier"/>
              </a:rPr>
              <a:t>filter()</a:t>
            </a:r>
            <a:r>
              <a:rPr/>
              <a:t> command.</a:t>
            </a:r>
          </a:p>
          <a:p>
            <a:pPr lvl="0" indent="-342900" marL="342900">
              <a:buAutoNum type="arabicPeriod"/>
            </a:pPr>
            <a:r>
              <a:rPr/>
              <a:t>Now try adding the following line to the histogram you made in question 1: </a:t>
            </a:r>
            <a:r>
              <a:rPr>
                <a:latin typeface="Courier"/>
              </a:rPr>
              <a:t>+ facet_wrap(~sex)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3 solutions</a:t>
            </a:r>
          </a:p>
          <a:p>
            <a:pPr lvl="0" indent="-342900" marL="342900">
              <a:buAutoNum type="arabicPeriod"/>
            </a:pPr>
            <a:r>
              <a:rPr/>
              <a:t>Make a histogram of the variable </a:t>
            </a:r>
            <a:r>
              <a:rPr>
                <a:latin typeface="Courier"/>
              </a:rPr>
              <a:t>death_age</a:t>
            </a:r>
            <a:r>
              <a:rPr/>
              <a:t>. When are most people dying?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censoc)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death_age)) </a:t>
            </a:r>
          </a:p>
        </p:txBody>
      </p:sp>
      <p:pic>
        <p:nvPicPr>
          <p:cNvPr descr="full_session_files/figure-pptx/unnamed-chunk-8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3 solutions (cont.)</a:t>
            </a:r>
          </a:p>
          <a:p>
            <a:pPr lvl="0" indent="-342900" marL="342900">
              <a:buAutoNum startAt="2" type="arabicPeriod"/>
            </a:pPr>
            <a:r>
              <a:rPr/>
              <a:t>Make a histogram of the variable </a:t>
            </a:r>
            <a:r>
              <a:rPr>
                <a:latin typeface="Courier"/>
              </a:rPr>
              <a:t>byear</a:t>
            </a:r>
            <a:r>
              <a:rPr/>
              <a:t>. When are most people born?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censoc)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byear)) </a:t>
            </a:r>
          </a:p>
        </p:txBody>
      </p:sp>
      <p:pic>
        <p:nvPicPr>
          <p:cNvPr descr="full_session_files/figure-pptx/unnamed-chunk-8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3 solutions (cont.)</a:t>
            </a:r>
          </a:p>
          <a:p>
            <a:pPr lvl="0" indent="-342900" marL="342900">
              <a:buAutoNum startAt="3" type="arabicPeriod"/>
            </a:pPr>
            <a:r>
              <a:rPr/>
              <a:t>Recode the variable </a:t>
            </a:r>
            <a:r>
              <a:rPr>
                <a:latin typeface="Courier"/>
              </a:rPr>
              <a:t>sex</a:t>
            </a:r>
            <a:r>
              <a:rPr/>
              <a:t> from numeric values (1, 2) to take character values (“men” and “women”). Note that 1 = men, 2 = women.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recode sex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censoc &lt;- censoc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sex_recode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sex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sex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"women"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look at first few rows to check our recode worked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censoc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(sex, sex_recode)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    sex sex_recode
  &lt;dbl&gt; &lt;chr&gt;     
1     1 men       
2     1 men       
3     1 men       
4     2 women     
5     1 men       
6     2 women    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3 solutions (cont.)</a:t>
            </a:r>
          </a:p>
          <a:p>
            <a:pPr lvl="0" indent="-342900" marL="342900">
              <a:buAutoNum startAt="4" type="arabicPeriod"/>
            </a:pPr>
            <a:r>
              <a:rPr/>
              <a:t>Calculate the mean of of death for both men and women using </a:t>
            </a:r>
            <a:r>
              <a:rPr>
                <a:latin typeface="Courier"/>
              </a:rPr>
              <a:t>group_by()</a:t>
            </a:r>
            <a:r>
              <a:rPr/>
              <a:t> and </a:t>
            </a:r>
            <a:r>
              <a:rPr>
                <a:latin typeface="Courier"/>
              </a:rPr>
              <a:t>summarize()</a:t>
            </a:r>
            <a:r>
              <a:rPr/>
              <a:t>. Do men or women live longer?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censoc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(sex_recode)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(death_age))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sex_recode `mean(death_age)`
  &lt;chr&gt;                  &lt;dbl&gt;
1 men                     73.9
2 women                   78.2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3 solutions (cont.)</a:t>
            </a:r>
          </a:p>
          <a:p>
            <a:pPr lvl="0" indent="-342900" marL="342900">
              <a:buAutoNum startAt="5" type="arabicPeriod"/>
            </a:pPr>
            <a:r>
              <a:rPr/>
              <a:t>Make a histogram of the variable </a:t>
            </a:r>
            <a:r>
              <a:rPr>
                <a:latin typeface="Courier"/>
              </a:rPr>
              <a:t>death_age</a:t>
            </a:r>
            <a:r>
              <a:rPr/>
              <a:t> for both men and women.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censoc_men &lt;- censoc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(sex_recode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censoc_women &lt;- censoc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(sex_recode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"women"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censoc_men)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i="1">
                <a:solidFill>
                  <a:srgbClr val="5E5E5E"/>
                </a:solidFill>
                <a:latin typeface="Courier"/>
              </a:rPr>
              <a:t>## histogram for men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death_age)) </a:t>
            </a:r>
          </a:p>
        </p:txBody>
      </p:sp>
      <p:pic>
        <p:nvPicPr>
          <p:cNvPr descr="full_session_files/figure-pptx/unnamed-chunk-8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censoc_women)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i="1">
                <a:solidFill>
                  <a:srgbClr val="5E5E5E"/>
                </a:solidFill>
                <a:latin typeface="Courier"/>
              </a:rPr>
              <a:t>## histogram for women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death_age)) </a:t>
            </a:r>
          </a:p>
        </p:txBody>
      </p:sp>
      <p:pic>
        <p:nvPicPr>
          <p:cNvPr descr="full_session_files/figure-pptx/unnamed-chunk-84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3 solutions (cont.)</a:t>
            </a:r>
          </a:p>
          <a:p>
            <a:pPr lvl="0" indent="-342900" marL="342900">
              <a:buAutoNum startAt="6" type="arabicPeriod"/>
            </a:pPr>
            <a:r>
              <a:rPr/>
              <a:t>Now try adding the following line to the histogram you made in question 1: </a:t>
            </a:r>
            <a:r>
              <a:rPr>
                <a:latin typeface="Courier"/>
              </a:rPr>
              <a:t>+ facet_wrap(~sex)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censoc)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death_age))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sex_recode)</a:t>
            </a:r>
          </a:p>
        </p:txBody>
      </p:sp>
      <p:pic>
        <p:nvPicPr>
          <p:cNvPr descr="full_session_files/figure-pptx/unnamed-chunk-8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 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Best practices and resources for self-study</a:t>
            </a:r>
          </a:p>
          <a:p>
            <a:pPr lvl="0" indent="0" marL="0">
              <a:buNone/>
            </a:pPr>
            <a:r>
              <a:rPr/>
              <a:t>Learning objectives</a:t>
            </a:r>
          </a:p>
          <a:p>
            <a:pPr lvl="0"/>
            <a:r>
              <a:rPr/>
              <a:t>Best practices for writing and documenting code</a:t>
            </a:r>
          </a:p>
          <a:p>
            <a:pPr lvl="0"/>
            <a:r>
              <a:rPr/>
              <a:t>Where to go when you’re stuck</a:t>
            </a:r>
          </a:p>
          <a:p>
            <a:pPr lvl="0"/>
            <a:r>
              <a:rPr/>
              <a:t>Resources for learning more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Best practices (opinionated)</a:t>
            </a:r>
          </a:p>
          <a:p>
            <a:pPr lvl="0"/>
            <a:r>
              <a:rPr b="1"/>
              <a:t>Style</a:t>
            </a:r>
            <a:r>
              <a:rPr/>
              <a:t>: use descriptive names and “snake_case”</a:t>
            </a:r>
          </a:p>
          <a:p>
            <a:pPr lvl="0"/>
            <a:r>
              <a:rPr b="1"/>
              <a:t>Documentation</a:t>
            </a:r>
            <a:r>
              <a:rPr/>
              <a:t>: Start commenting your code early, it’s a good habit for the future</a:t>
            </a:r>
          </a:p>
          <a:p>
            <a:pPr lvl="0"/>
            <a:r>
              <a:rPr b="1"/>
              <a:t>Learn </a:t>
            </a:r>
            <a:r>
              <a:rPr b="1">
                <a:latin typeface="Courier"/>
              </a:rPr>
              <a:t>tidyverse</a:t>
            </a:r>
            <a:r>
              <a:rPr/>
              <a:t>: offers a more coherent syntax and is widely used in data science</a:t>
            </a:r>
          </a:p>
          <a:p>
            <a:pPr lvl="0"/>
            <a:r>
              <a:rPr b="1"/>
              <a:t>Advanced topics</a:t>
            </a:r>
            <a:r>
              <a:rPr/>
              <a:t>: R Projects, github integration, etc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you’re stuck</a:t>
            </a:r>
          </a:p>
          <a:p>
            <a:pPr lvl="0"/>
            <a:r>
              <a:rPr/>
              <a:t>Google</a:t>
            </a:r>
          </a:p>
          <a:p>
            <a:pPr lvl="1"/>
            <a:r>
              <a:rPr/>
              <a:t>Lots of packages have documentation available online</a:t>
            </a:r>
          </a:p>
          <a:p>
            <a:pPr lvl="1"/>
            <a:r>
              <a:rPr/>
              <a:t>Stack overflow – excellent resource</a:t>
            </a:r>
          </a:p>
          <a:p>
            <a:pPr lvl="0"/>
            <a:r>
              <a:rPr/>
              <a:t>Use help syntax (e.g., </a:t>
            </a:r>
            <a:r>
              <a:rPr>
                <a:latin typeface="Courier"/>
              </a:rPr>
              <a:t>?dplyr</a:t>
            </a:r>
            <a:r>
              <a:rPr/>
              <a:t>)</a:t>
            </a:r>
          </a:p>
          <a:p>
            <a:pPr lvl="0"/>
            <a:r>
              <a:rPr/>
              <a:t>GPT (decent, but be careful!)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Resources for learning more</a:t>
            </a:r>
          </a:p>
          <a:p>
            <a:pPr lvl="0" indent="-342900" marL="342900">
              <a:buAutoNum type="arabicPeriod"/>
            </a:pPr>
            <a:r>
              <a:rPr/>
              <a:t>R for data science (</a:t>
            </a:r>
            <a:r>
              <a:rPr>
                <a:hlinkClick r:id="rId2"/>
              </a:rPr>
              <a:t>https://r4ds.hadley.nz/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Data visualization: a practical introduction (</a:t>
            </a:r>
            <a:r>
              <a:rPr>
                <a:hlinkClick r:id="rId3"/>
              </a:rPr>
              <a:t>https://socviz.co/</a:t>
            </a:r>
            <a:r>
              <a:rPr/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In-class exercise 4</a:t>
            </a:r>
          </a:p>
          <a:p>
            <a:pPr lvl="0" indent="0" marL="0">
              <a:buNone/>
            </a:pPr>
            <a:r>
              <a:rPr/>
              <a:t>Do homeowners in the United States live longer than renters in the United States?</a:t>
            </a:r>
          </a:p>
          <a:p>
            <a:pPr lvl="0" indent="-342900" marL="342900">
              <a:buAutoNum type="arabicPeriod"/>
            </a:pPr>
            <a:r>
              <a:rPr/>
              <a:t>Using the </a:t>
            </a:r>
            <a:r>
              <a:rPr>
                <a:latin typeface="Courier"/>
              </a:rPr>
              <a:t>censoc</a:t>
            </a:r>
            <a:r>
              <a:rPr/>
              <a:t> data.frame, create a new data.frame </a:t>
            </a:r>
            <a:r>
              <a:rPr>
                <a:latin typeface="Courier"/>
              </a:rPr>
              <a:t>censoc_homeownership</a:t>
            </a:r>
            <a:r>
              <a:rPr/>
              <a:t> that filters out any “missing” value for the </a:t>
            </a:r>
            <a:r>
              <a:rPr>
                <a:latin typeface="Courier"/>
              </a:rPr>
              <a:t>ownershp</a:t>
            </a:r>
            <a:r>
              <a:rPr/>
              <a:t> variable (missing = 0). Use the </a:t>
            </a:r>
            <a:r>
              <a:rPr>
                <a:latin typeface="Courier"/>
              </a:rPr>
              <a:t>filter()</a:t>
            </a:r>
            <a:r>
              <a:rPr/>
              <a:t> command.</a:t>
            </a:r>
          </a:p>
          <a:p>
            <a:pPr lvl="0" indent="-342900" marL="342900">
              <a:buAutoNum type="arabicPeriod"/>
            </a:pPr>
            <a:r>
              <a:rPr/>
              <a:t>In the </a:t>
            </a:r>
            <a:r>
              <a:rPr>
                <a:latin typeface="Courier"/>
              </a:rPr>
              <a:t>censoc_homeownership</a:t>
            </a:r>
            <a:r>
              <a:rPr/>
              <a:t> data.frame, create a new variable </a:t>
            </a:r>
            <a:r>
              <a:rPr>
                <a:latin typeface="Courier"/>
              </a:rPr>
              <a:t>homeowner</a:t>
            </a:r>
            <a:r>
              <a:rPr/>
              <a:t> using the </a:t>
            </a:r>
            <a:r>
              <a:rPr>
                <a:latin typeface="Courier"/>
              </a:rPr>
              <a:t>mutate()</a:t>
            </a:r>
            <a:r>
              <a:rPr/>
              <a:t> command and the </a:t>
            </a:r>
            <a:r>
              <a:rPr>
                <a:latin typeface="Courier"/>
              </a:rPr>
              <a:t>case_when()</a:t>
            </a:r>
            <a:r>
              <a:rPr/>
              <a:t> command. Assign this new variable </a:t>
            </a:r>
            <a:r>
              <a:rPr>
                <a:latin typeface="Courier"/>
              </a:rPr>
              <a:t>homeowner</a:t>
            </a:r>
            <a:r>
              <a:rPr/>
              <a:t> a value of “own” if </a:t>
            </a:r>
            <a:r>
              <a:rPr>
                <a:latin typeface="Courier"/>
              </a:rPr>
              <a:t>ownershp == 1</a:t>
            </a:r>
            <a:r>
              <a:rPr/>
              <a:t> and a value of “rent” if </a:t>
            </a:r>
            <a:r>
              <a:rPr>
                <a:latin typeface="Courier"/>
              </a:rPr>
              <a:t>ownershp == 2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Make a histogram on the age of death for “homeowner” and “renter” groups using </a:t>
            </a:r>
            <a:r>
              <a:rPr>
                <a:latin typeface="Courier"/>
              </a:rPr>
              <a:t>ggplot</a:t>
            </a:r>
            <a:r>
              <a:rPr/>
              <a:t> using the </a:t>
            </a:r>
            <a:r>
              <a:rPr>
                <a:latin typeface="Courier"/>
              </a:rPr>
              <a:t>censoc_homeownership</a:t>
            </a:r>
            <a:r>
              <a:rPr/>
              <a:t> data.frame. Use the </a:t>
            </a:r>
            <a:r>
              <a:rPr>
                <a:latin typeface="Courier"/>
              </a:rPr>
              <a:t>+ facet_wrap(~homeowner)</a:t>
            </a:r>
            <a:r>
              <a:rPr/>
              <a:t> command.</a:t>
            </a:r>
          </a:p>
          <a:p>
            <a:pPr lvl="0" indent="-342900" marL="342900">
              <a:buAutoNum type="arabicPeriod"/>
            </a:pPr>
            <a:r>
              <a:rPr/>
              <a:t>Calculate the average age of death for “homeowner” and “renter” groups. Which group lives longer, on average? Use the </a:t>
            </a:r>
            <a:r>
              <a:rPr>
                <a:latin typeface="Courier"/>
              </a:rPr>
              <a:t>group_by()</a:t>
            </a:r>
            <a:r>
              <a:rPr/>
              <a:t> and </a:t>
            </a:r>
            <a:r>
              <a:rPr>
                <a:latin typeface="Courier"/>
              </a:rPr>
              <a:t>summarize()</a:t>
            </a:r>
            <a:r>
              <a:rPr/>
              <a:t> functions. What are some possible explanations for homeowners living longer than renters in the US?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4 solution</a:t>
            </a:r>
          </a:p>
          <a:p>
            <a:pPr lvl="0" indent="0" marL="0">
              <a:buNone/>
            </a:pPr>
            <a:r>
              <a:rPr/>
              <a:t>Do homeowners in the United States live longer than renters in the United States?</a:t>
            </a:r>
          </a:p>
          <a:p>
            <a:pPr lvl="0" indent="-342900" marL="342900">
              <a:buAutoNum type="arabicPeriod"/>
            </a:pPr>
            <a:r>
              <a:rPr/>
              <a:t>Using the </a:t>
            </a:r>
            <a:r>
              <a:rPr>
                <a:latin typeface="Courier"/>
              </a:rPr>
              <a:t>censoc</a:t>
            </a:r>
            <a:r>
              <a:rPr/>
              <a:t> data.frame, create a new data.frame </a:t>
            </a:r>
            <a:r>
              <a:rPr>
                <a:latin typeface="Courier"/>
              </a:rPr>
              <a:t>censoc_homeownership</a:t>
            </a:r>
            <a:r>
              <a:rPr/>
              <a:t> that filters out any “missing” value for the </a:t>
            </a:r>
            <a:r>
              <a:rPr>
                <a:latin typeface="Courier"/>
              </a:rPr>
              <a:t>ownershp</a:t>
            </a:r>
            <a:r>
              <a:rPr/>
              <a:t> variable (missing = 0). Use the </a:t>
            </a:r>
            <a:r>
              <a:rPr>
                <a:latin typeface="Courier"/>
              </a:rPr>
              <a:t>filter()</a:t>
            </a:r>
            <a:r>
              <a:rPr/>
              <a:t> command.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censoc_homeownership &lt;- censoc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(ownershp </a:t>
            </a:r>
            <a:r>
              <a:rPr>
                <a:solidFill>
                  <a:srgbClr val="5E5E5E"/>
                </a:solidFill>
                <a:latin typeface="Courier"/>
              </a:rPr>
              <a:t>!=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-342900" marL="342900">
              <a:buAutoNum startAt="2" type="arabicPeriod"/>
            </a:pPr>
            <a:r>
              <a:rPr/>
              <a:t>In the </a:t>
            </a:r>
            <a:r>
              <a:rPr>
                <a:latin typeface="Courier"/>
              </a:rPr>
              <a:t>censoc_homeownership</a:t>
            </a:r>
            <a:r>
              <a:rPr/>
              <a:t> data.frame, create a new variable </a:t>
            </a:r>
            <a:r>
              <a:rPr>
                <a:latin typeface="Courier"/>
              </a:rPr>
              <a:t>homeowner</a:t>
            </a:r>
            <a:r>
              <a:rPr/>
              <a:t> using the </a:t>
            </a:r>
            <a:r>
              <a:rPr>
                <a:latin typeface="Courier"/>
              </a:rPr>
              <a:t>mutate()</a:t>
            </a:r>
            <a:r>
              <a:rPr/>
              <a:t> command and the </a:t>
            </a:r>
            <a:r>
              <a:rPr>
                <a:latin typeface="Courier"/>
              </a:rPr>
              <a:t>case_when()</a:t>
            </a:r>
            <a:r>
              <a:rPr/>
              <a:t> command. Assign this new variable </a:t>
            </a:r>
            <a:r>
              <a:rPr>
                <a:latin typeface="Courier"/>
              </a:rPr>
              <a:t>homeowner</a:t>
            </a:r>
            <a:r>
              <a:rPr/>
              <a:t> a value of “own” if </a:t>
            </a:r>
            <a:r>
              <a:rPr>
                <a:latin typeface="Courier"/>
              </a:rPr>
              <a:t>ownershp == 1</a:t>
            </a:r>
            <a:r>
              <a:rPr/>
              <a:t> and a value of “rent” if </a:t>
            </a:r>
            <a:r>
              <a:rPr>
                <a:latin typeface="Courier"/>
              </a:rPr>
              <a:t>ownershp == 2</a:t>
            </a:r>
            <a:r>
              <a:rPr/>
              <a:t>.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create new homeowner variable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censoc_homeownership &lt;- censoc_homeownership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homeowner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ownershp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"own"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ownershp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"rent"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4 solution (cont.)</a:t>
            </a:r>
          </a:p>
          <a:p>
            <a:pPr lvl="0" indent="-342900" marL="342900">
              <a:buAutoNum startAt="3" type="arabicPeriod"/>
            </a:pPr>
            <a:r>
              <a:rPr/>
              <a:t>Make a histogram on the age of death for “homeowner” and “renter” groups using </a:t>
            </a:r>
            <a:r>
              <a:rPr>
                <a:latin typeface="Courier"/>
              </a:rPr>
              <a:t>ggplot</a:t>
            </a:r>
            <a:r>
              <a:rPr/>
              <a:t> using the </a:t>
            </a:r>
            <a:r>
              <a:rPr>
                <a:latin typeface="Courier"/>
              </a:rPr>
              <a:t>censoc_homeownership</a:t>
            </a:r>
            <a:r>
              <a:rPr/>
              <a:t> data.frame. Use the </a:t>
            </a:r>
            <a:r>
              <a:rPr>
                <a:latin typeface="Courier"/>
              </a:rPr>
              <a:t>+ facet_wrap(~homeowner)</a:t>
            </a:r>
            <a:r>
              <a:rPr/>
              <a:t> command.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censoc_homeownership)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death_age))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homeowner)</a:t>
            </a:r>
          </a:p>
        </p:txBody>
      </p:sp>
      <p:pic>
        <p:nvPicPr>
          <p:cNvPr descr="full_session_files/figure-pptx/unnamed-chunk-88-1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4 solution (cont.)</a:t>
            </a:r>
          </a:p>
          <a:p>
            <a:pPr lvl="0" indent="-342900" marL="342900">
              <a:buAutoNum startAt="4" type="arabicPeriod"/>
            </a:pPr>
            <a:r>
              <a:rPr/>
              <a:t>Calculate the average age of death for “homeowner” and “renter” groups. Which group lives longer, on average? Use the </a:t>
            </a:r>
            <a:r>
              <a:rPr>
                <a:latin typeface="Courier"/>
              </a:rPr>
              <a:t>group_by()</a:t>
            </a:r>
            <a:r>
              <a:rPr/>
              <a:t> and </a:t>
            </a:r>
            <a:r>
              <a:rPr>
                <a:latin typeface="Courier"/>
              </a:rPr>
              <a:t>summarize()</a:t>
            </a:r>
            <a:r>
              <a:rPr/>
              <a:t> functions What are some possible explanations for homeowners living longer than renters in the US?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censoc_homeownership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(homeowner)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(death_age))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homeowner `mean(death_age)`
  &lt;chr&gt;                 &lt;dbl&gt;
1 own                    76.5
2 rent                   75.8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Thank you</a:t>
            </a:r>
          </a:p>
          <a:p>
            <a:pPr lvl="0"/>
            <a:r>
              <a:rPr/>
              <a:t>Course materials available from:</a:t>
            </a:r>
          </a:p>
          <a:p>
            <a:pPr lvl="1"/>
            <a:r>
              <a:rPr>
                <a:hlinkClick r:id="rId2"/>
              </a:rPr>
              <a:t>www.github.com/caseybreen/intro_r</a:t>
            </a:r>
          </a:p>
          <a:p>
            <a:pPr lvl="0"/>
            <a:r>
              <a:rPr/>
              <a:t>Please independently complete all exercises in problem set 2 (and review solutions)</a:t>
            </a:r>
          </a:p>
          <a:p>
            <a:pPr lvl="0"/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</dc:title>
  <dc:creator>Casey Breen</dc:creator>
  <cp:keywords/>
  <dcterms:created xsi:type="dcterms:W3CDTF">2026-01-16T19:15:44Z</dcterms:created>
  <dcterms:modified xsi:type="dcterms:W3CDTF">2026-01-16T19:15:44Z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2026-01-16</vt:lpwstr>
  </property>
  <property fmtid="{D5CDD505-2E9C-101B-9397-08002B2CF9AE}" pid="6" name="editor">
    <vt:lpwstr>visual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lide-number">
    <vt:lpwstr>True</vt:lpwstr>
  </property>
  <property fmtid="{D5CDD505-2E9C-101B-9397-08002B2CF9AE}" pid="12" name="subtitle">
    <vt:lpwstr>Department of Sociology | University of Texas at Austin</vt:lpwstr>
  </property>
  <property fmtid="{D5CDD505-2E9C-101B-9397-08002B2CF9AE}" pid="13" name="toc-title">
    <vt:lpwstr>Table of contents</vt:lpwstr>
  </property>
</Properties>
</file>